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4063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4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841248" y="19659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高校数学とJulia言語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41248" y="2697480"/>
            <a:ext cx="10424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関数のグラフを描いて最大・最小!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41248" y="521208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AB6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城北中学校・高等学校　中学3年・高校1年</a:t>
            </a:r>
            <a:endParaRPr lang="en-US" sz="16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BAB6CE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夏期講習会III　2026/8/24〜8/28　担当:清水団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1248" y="4206240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D5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数式は、描けば「性格」が見える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0424160" y="868680"/>
            <a:ext cx="292608" cy="292608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8" name="Shape 6"/>
          <p:cNvSpPr/>
          <p:nvPr/>
        </p:nvSpPr>
        <p:spPr>
          <a:xfrm>
            <a:off x="10780776" y="868680"/>
            <a:ext cx="292608" cy="292608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9" name="Shape 7"/>
          <p:cNvSpPr/>
          <p:nvPr/>
        </p:nvSpPr>
        <p:spPr>
          <a:xfrm>
            <a:off x="11137392" y="868680"/>
            <a:ext cx="292608" cy="292608"/>
          </a:xfrm>
          <a:prstGeom prst="ellipse">
            <a:avLst/>
          </a:prstGeom>
          <a:solidFill>
            <a:srgbClr val="9558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5日間の学習予定 — テーマ「実験する高校数学」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234440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4F3F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08176"/>
            <a:ext cx="493776" cy="493776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08176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234440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1　計算・基本文法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06640" y="1234440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Juliaと友だちになる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258568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4F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432304"/>
            <a:ext cx="493776" cy="493776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2432304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63040" y="2258568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2　整数問題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406640" y="2258568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探す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3282696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4F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456432"/>
            <a:ext cx="493776" cy="493776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456432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3282696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3　場合の数・組合せ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406640" y="3282696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全部作る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4306824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4063D8"/>
          </a:solidFill>
          <a:ln/>
        </p:spPr>
      </p:sp>
      <p:sp>
        <p:nvSpPr>
          <p:cNvPr id="22" name="Shape 20"/>
          <p:cNvSpPr/>
          <p:nvPr/>
        </p:nvSpPr>
        <p:spPr>
          <a:xfrm>
            <a:off x="777240" y="4480560"/>
            <a:ext cx="493776" cy="49377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480560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063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63040" y="4306824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4　関数・グラフ・最大最小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　← 今日はここ!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06640" y="4306824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描く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48640" y="5330952"/>
            <a:ext cx="8778240" cy="841248"/>
          </a:xfrm>
          <a:prstGeom prst="roundRect">
            <a:avLst>
              <a:gd name="adj" fmla="val 9783"/>
            </a:avLst>
          </a:prstGeom>
          <a:solidFill>
            <a:srgbClr val="F4F3F8"/>
          </a:solidFill>
          <a:ln/>
        </p:spPr>
      </p:sp>
      <p:sp>
        <p:nvSpPr>
          <p:cNvPr id="27" name="Shape 25"/>
          <p:cNvSpPr/>
          <p:nvPr/>
        </p:nvSpPr>
        <p:spPr>
          <a:xfrm>
            <a:off x="777240" y="5504688"/>
            <a:ext cx="493776" cy="493776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28" name="Text 26"/>
          <p:cNvSpPr/>
          <p:nvPr/>
        </p:nvSpPr>
        <p:spPr>
          <a:xfrm>
            <a:off x="777240" y="5504688"/>
            <a:ext cx="49377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3040" y="5330952"/>
            <a:ext cx="60350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Day 5　確率・シミュレーション</a:t>
            </a:r>
            <a:pPr indent="0" marL="0">
              <a:buNone/>
            </a:pP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406640" y="5330952"/>
            <a:ext cx="1828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i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試す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601200" y="1234440"/>
            <a:ext cx="2039112" cy="4937760"/>
          </a:xfrm>
          <a:prstGeom prst="roundRect">
            <a:avLst>
              <a:gd name="adj" fmla="val 4036"/>
            </a:avLst>
          </a:prstGeom>
          <a:solidFill>
            <a:srgbClr val="4063D8">
              <a:alpha val="8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9784080" y="146304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063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今日のゴール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784080" y="2011680"/>
            <a:ext cx="16916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関数を定義してグラフを描く</a:t>
            </a: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endParaRPr lang="en-US" sz="13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グラフ+数値実験で最大・最小を求める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グラフを描く準備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日本語も表示できるグラフ環境を準備します(初回だけ時間がかかります。待ちましょう!)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1064240" cy="2743200"/>
          </a:xfrm>
          <a:prstGeom prst="roundRect">
            <a:avLst>
              <a:gd name="adj" fmla="val 333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1051560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Pkg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Pkg.add(url="https://github.com/ujimushi/PlotsGRBackendFontJaEmoji.jl")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using PlotsGRBackendFontJaEmoji, Plots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gr()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パッケージの読み込み完了!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846320"/>
            <a:ext cx="11064240" cy="1005840"/>
          </a:xfrm>
          <a:prstGeom prst="roundRect">
            <a:avLst>
              <a:gd name="adj" fmla="val 8182"/>
            </a:avLst>
          </a:prstGeom>
          <a:solidFill>
            <a:srgbClr val="F4F3F8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484632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Plots.jl はJuliaの定番グラフパッケージ。今日と明日の主役です。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関数の定義:数学そのままの記法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6949440" cy="4480560"/>
          </a:xfrm>
          <a:prstGeom prst="roundRect">
            <a:avLst>
              <a:gd name="adj" fmla="val 204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353312"/>
            <a:ext cx="6400800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基本形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f(x)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2x + 1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短縮形(おすすめ) —— 数学と同じ!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f(x) = 2x + 1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g(x) = x^2 - 3x + 2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f(3), g(1)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(7, 0)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63840" y="1188720"/>
            <a:ext cx="3749040" cy="2103120"/>
          </a:xfrm>
          <a:prstGeom prst="roundRect">
            <a:avLst>
              <a:gd name="adj" fmla="val 3913"/>
            </a:avLst>
          </a:prstGeom>
          <a:solidFill>
            <a:srgbClr val="4063D8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863840" y="1298448"/>
            <a:ext cx="3749040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063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f(x)=2x+1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001000" y="2408530"/>
            <a:ext cx="3474720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数学の式がそのまま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コードになる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863840" y="3566160"/>
            <a:ext cx="3749040" cy="2103120"/>
          </a:xfrm>
          <a:prstGeom prst="roundRect">
            <a:avLst>
              <a:gd name="adj" fmla="val 3913"/>
            </a:avLst>
          </a:prstGeom>
          <a:solidFill>
            <a:srgbClr val="389826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3675888"/>
            <a:ext cx="3749040" cy="10936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f(3) → 7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8001000" y="4785970"/>
            <a:ext cx="3474720" cy="7991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定義したら、値を求めるのも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数学と同じ書き方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4063D8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「関数を定義する」=数学の f(x) をJuliaに教えること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グラフを描く・重ねる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6949440" cy="4480560"/>
          </a:xfrm>
          <a:prstGeom prst="roundRect">
            <a:avLst>
              <a:gd name="adj" fmla="val 2041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22960" y="1353312"/>
            <a:ext cx="6400800" cy="4151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plot(f, lw=3, color=:blue, label="f")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plot(g, -3, 3)    # 範囲を指定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plot(f, -3, 3)    # まず1つ描いて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plot!(g, -3, 3)   # !で重ねる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hline!([0])       # x軸も追加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863840" y="1188720"/>
            <a:ext cx="3749040" cy="4480560"/>
          </a:xfrm>
          <a:prstGeom prst="roundRect">
            <a:avLst>
              <a:gd name="adj" fmla="val 2195"/>
            </a:avLst>
          </a:prstGeom>
          <a:solidFill>
            <a:srgbClr val="F4F3F8"/>
          </a:solidFill>
          <a:ln/>
        </p:spPr>
      </p:sp>
      <p:sp>
        <p:nvSpPr>
          <p:cNvPr id="9" name="Text 7"/>
          <p:cNvSpPr/>
          <p:nvPr/>
        </p:nvSpPr>
        <p:spPr>
          <a:xfrm>
            <a:off x="8138160" y="1463040"/>
            <a:ext cx="32004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4063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オプション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lw = 線の太さ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color = 色</a:t>
            </a: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label = 凡例</a:t>
            </a:r>
            <a:endParaRPr lang="en-US" sz="1350" dirty="0"/>
          </a:p>
          <a:p>
            <a:pPr indent="0" marL="0">
              <a:lnSpc>
                <a:spcPct val="120000"/>
              </a:lnSpc>
              <a:buNone/>
            </a:pPr>
            <a:endParaRPr lang="en-US" sz="135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重ねると交点=方程式の解が見える!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4063D8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! 付きの関数(plot!)は「今の絵に上書き」の意味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パラメータを動かして実験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y = x² + bx の b を変えるとグラフはどう動く?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= plot()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b in -4:2:4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plot!(p, x -&gt; x^2 + b*x,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-5, 5, label="b = $b")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4063D8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8928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063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 -&gt; ...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8001000" y="28437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その場で作る「名前のない関数」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(無名関数)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38404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CB3C33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9502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CB3C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発見!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8001000" y="49011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頂点は放物線 y = −x² の上を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動いている!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4063D8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パラメータを動かす実験から、新しい法則が見つかる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最大・最小:「見て」から「実験」する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問題:f(x) = −x² + 4x + 1 の最大値は?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f1(x) = -x^2 + 4x + 1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plot(f1, -1, 5)     # まず目で確認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 = -1:0.001:5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ys = f1.(xs)        # .で全部に適用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maximum(ys)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5.0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xs[argmax(ys)]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4063D8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8928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4063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x=2で最大5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8001000" y="28437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平方完成 −(x−2)² + 5 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ぴったり一致!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38404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9558B2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9502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f.(xs)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001000" y="49011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ドットで「全部の点に適用」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Juliaらしい書き方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4063D8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グラフで予想 → 数値実験で確認 → 手計算で証明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定義域に制限がある場合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問題:f(x) = x² − 4x + 3(0 ≤ x ≤ 3)の最大値・最小値は?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f2(x) = x^2 - 4x + 3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plot(f2, 0, 3)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 = 0:0.001:3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ys = f2.(xs)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maximum(ys), xs[argmax(ys)]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(3.0, 0.0)   # 端点で最大!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minimum(ys), xs[argmin(ys)]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(-1.0, 2.0)  # 頂点で最小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4063D8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8928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063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端点に注意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8001000" y="28437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最大値は頂点ではなく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端 x = 0 で起きた!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38404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389826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9502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端 と 頂点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001000" y="49011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定義域つき最大最小は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この2か所に注目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4063D8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テストで間違えやすいポイントが、グラフなら一目瞭然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3次関数にも挑戦(高2の先取り!)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f(x) = x³ − 3x のグラフはどんな形?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f3(x) = x^3 - 3x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plot(f3, -2.5, 2.5)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山(極大)と谷(極小)を数値実験で探す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 = -2:0.001:0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maximum(f3.(xs))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2.0    # x = -1 で極大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 = 0:0.001:2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minimum(f3.(xs))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-2.0   # x = 1 で極小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4063D8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8928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4063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山と谷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8001000" y="28437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3次関数には極大・極小が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あることを発見!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38404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9558B2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9502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9558B2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微分の入口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001000" y="49011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高2で微分を学ぶとき、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今日のグラフを思い出そう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4063D8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微分を知らなくても、描けば増減が見える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文章題を「描いて」解く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問題:長さ20mのロープで長方形の囲いを作る。面積を最大にするには?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6949440" cy="3886200"/>
          </a:xfrm>
          <a:prstGeom prst="roundRect">
            <a:avLst>
              <a:gd name="adj" fmla="val 2353"/>
            </a:avLst>
          </a:prstGeom>
          <a:solidFill>
            <a:srgbClr val="1E1E2E"/>
          </a:solidFill>
          <a:ln/>
          <a:effectLst>
            <a:outerShdw sx="100000" sy="100000" kx="0" ky="0" algn="bl" rotWithShape="0" blurRad="101600" dist="25400" dir="5400000">
              <a:srgbClr val="3A3655">
                <a:alpha val="3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1947672"/>
            <a:ext cx="6400800" cy="3557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縦x、横10-x、面積S(x) = x(10-x)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S(x) = x * (10 - x)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plot(S, 0, 10,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xlabel="縦の長さ(m)",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ylabel="面積(m²)")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xs = 0:0.001:10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AEA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maximum(S.(xs)), xs[argmax(S.(xs))]</a:t>
            </a:r>
            <a:endParaRPr lang="en-US" sz="14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8CE9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(25.0, 5.0)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863840" y="17830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4063D8">
              <a:alpha val="8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863840" y="18928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063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25m²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8001000" y="28437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縦5m(=正方形)のとき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面積が最大!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863840" y="3840480"/>
            <a:ext cx="3749040" cy="1828800"/>
          </a:xfrm>
          <a:prstGeom prst="roundRect">
            <a:avLst>
              <a:gd name="adj" fmla="val 4500"/>
            </a:avLst>
          </a:prstGeom>
          <a:solidFill>
            <a:srgbClr val="389826">
              <a:alpha val="8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7863840" y="3950208"/>
            <a:ext cx="37490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982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式→グラフ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001000" y="4901184"/>
            <a:ext cx="34747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文章題は「関数を作って描く」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B688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と解ける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6108192"/>
            <a:ext cx="146304" cy="146304"/>
          </a:xfrm>
          <a:prstGeom prst="ellipse">
            <a:avLst/>
          </a:prstGeom>
          <a:solidFill>
            <a:srgbClr val="4063D8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" y="5989320"/>
            <a:ext cx="10789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周の長さが一定の長方形では正方形が最大 —— グラフが教えてくれた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今日の演習問題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11018520" y="457200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457200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457200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1887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4F3F8"/>
          </a:solidFill>
          <a:ln/>
        </p:spPr>
      </p:sp>
      <p:sp>
        <p:nvSpPr>
          <p:cNvPr id="7" name="Shape 5"/>
          <p:cNvSpPr/>
          <p:nvPr/>
        </p:nvSpPr>
        <p:spPr>
          <a:xfrm>
            <a:off x="777240" y="1417320"/>
            <a:ext cx="457200" cy="457200"/>
          </a:xfrm>
          <a:prstGeom prst="ellipse">
            <a:avLst/>
          </a:prstGeom>
          <a:solidFill>
            <a:srgbClr val="4063D8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417320" y="13898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グラフを描こう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201168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f(x) = x² − 6x + 7 を描いて頂点を読み取り、数値実験で最小値を確かめよう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72200" y="118872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4F3F8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0" y="1417320"/>
            <a:ext cx="457200" cy="457200"/>
          </a:xfrm>
          <a:prstGeom prst="ellipse">
            <a:avLst/>
          </a:prstGeom>
          <a:solidFill>
            <a:srgbClr val="4063D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7040880" y="138988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定義域つき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46520" y="201168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f(x) = −x² + 2x + 3(0 ≤ x ≤ 4)の最大値・最小値をグラフと数値実験で求めよう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35204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4F3F8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3749040"/>
            <a:ext cx="457200" cy="457200"/>
          </a:xfrm>
          <a:prstGeom prst="ellipse">
            <a:avLst/>
          </a:prstGeom>
          <a:solidFill>
            <a:srgbClr val="4063D8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17320" y="37216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文章題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2960" y="434340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長さ40cmの針金で長方形を作る。面積が最大になる縦の長さと最大面積は?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172200" y="3520440"/>
            <a:ext cx="5440680" cy="2148840"/>
          </a:xfrm>
          <a:prstGeom prst="roundRect">
            <a:avLst>
              <a:gd name="adj" fmla="val 3830"/>
            </a:avLst>
          </a:prstGeom>
          <a:solidFill>
            <a:srgbClr val="F4F3F8"/>
          </a:solidFill>
          <a:ln/>
        </p:spPr>
      </p:sp>
      <p:sp>
        <p:nvSpPr>
          <p:cNvPr id="22" name="Shape 20"/>
          <p:cNvSpPr/>
          <p:nvPr/>
        </p:nvSpPr>
        <p:spPr>
          <a:xfrm>
            <a:off x="6400800" y="3749040"/>
            <a:ext cx="457200" cy="457200"/>
          </a:xfrm>
          <a:prstGeom prst="ellipse">
            <a:avLst/>
          </a:prstGeom>
          <a:solidFill>
            <a:srgbClr val="4063D8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0" y="3749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040880" y="3721608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チャレンジ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46520" y="4343400"/>
            <a:ext cx="4892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A24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f(x) = x + 4/x(x &gt; 0)の最小値を数値実験で。相加相乗平均の関係の「実験版」!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063D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Juliaで実験 → 手と頭で解く → チェック → ノートブックを保存して Google Classroom から提出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622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今日のまとめ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11018520" y="658368"/>
            <a:ext cx="164592" cy="164592"/>
          </a:xfrm>
          <a:prstGeom prst="ellipse">
            <a:avLst/>
          </a:prstGeom>
          <a:solidFill>
            <a:srgbClr val="389826"/>
          </a:solidFill>
          <a:ln/>
        </p:spPr>
      </p:sp>
      <p:sp>
        <p:nvSpPr>
          <p:cNvPr id="4" name="Shape 2"/>
          <p:cNvSpPr/>
          <p:nvPr/>
        </p:nvSpPr>
        <p:spPr>
          <a:xfrm>
            <a:off x="11247120" y="658368"/>
            <a:ext cx="164592" cy="164592"/>
          </a:xfrm>
          <a:prstGeom prst="ellipse">
            <a:avLst/>
          </a:prstGeom>
          <a:solidFill>
            <a:srgbClr val="CB3C33"/>
          </a:solidFill>
          <a:ln/>
        </p:spPr>
      </p:sp>
      <p:sp>
        <p:nvSpPr>
          <p:cNvPr id="5" name="Shape 3"/>
          <p:cNvSpPr/>
          <p:nvPr/>
        </p:nvSpPr>
        <p:spPr>
          <a:xfrm>
            <a:off x="11475720" y="658368"/>
            <a:ext cx="164592" cy="164592"/>
          </a:xfrm>
          <a:prstGeom prst="ellipse">
            <a:avLst/>
          </a:prstGeom>
          <a:solidFill>
            <a:srgbClr val="9558B2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609344"/>
            <a:ext cx="128016" cy="128016"/>
          </a:xfrm>
          <a:prstGeom prst="ellipse">
            <a:avLst/>
          </a:prstGeom>
          <a:solidFill>
            <a:srgbClr val="4063D8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46304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関数定義　</a:t>
            </a:r>
            <a:pPr indent="0" marL="0">
              <a:buNone/>
            </a:pPr>
            <a:r>
              <a:rPr lang="en-US" sz="1600" dirty="0">
                <a:solidFill>
                  <a:srgbClr val="C9C5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f(x) = 2x + 1 —— 数学そのままの記法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68680" y="2267712"/>
            <a:ext cx="128016" cy="128016"/>
          </a:xfrm>
          <a:prstGeom prst="ellipse">
            <a:avLst/>
          </a:prstGeom>
          <a:solidFill>
            <a:srgbClr val="4063D8"/>
          </a:solidFill>
          <a:ln/>
        </p:spPr>
      </p:sp>
      <p:sp>
        <p:nvSpPr>
          <p:cNvPr id="9" name="Text 7"/>
          <p:cNvSpPr/>
          <p:nvPr/>
        </p:nvSpPr>
        <p:spPr>
          <a:xfrm>
            <a:off x="1188720" y="212140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グラフ描画　</a:t>
            </a:r>
            <a:pPr indent="0" marL="0">
              <a:buNone/>
            </a:pPr>
            <a:r>
              <a:rPr lang="en-US" sz="1600" dirty="0">
                <a:solidFill>
                  <a:srgbClr val="C9C5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plot・plot!・範囲指定・パラメータ実験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8680" y="2926080"/>
            <a:ext cx="128016" cy="128016"/>
          </a:xfrm>
          <a:prstGeom prst="ellipse">
            <a:avLst/>
          </a:prstGeom>
          <a:solidFill>
            <a:srgbClr val="4063D8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77977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最大・最小　</a:t>
            </a:r>
            <a:pPr indent="0" marL="0">
              <a:buNone/>
            </a:pPr>
            <a:r>
              <a:rPr lang="en-US" sz="1600" dirty="0">
                <a:solidFill>
                  <a:srgbClr val="C9C5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グラフで予想 → maximum / argmax で数値実験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68680" y="3584448"/>
            <a:ext cx="128016" cy="128016"/>
          </a:xfrm>
          <a:prstGeom prst="ellipse">
            <a:avLst/>
          </a:prstGeom>
          <a:solidFill>
            <a:srgbClr val="4063D8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43814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応用　</a:t>
            </a:r>
            <a:pPr indent="0" marL="0">
              <a:buNone/>
            </a:pPr>
            <a:r>
              <a:rPr lang="en-US" sz="1600" dirty="0">
                <a:solidFill>
                  <a:srgbClr val="C9C5D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文章題も「関数を作って描けば」解ける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22960" y="4416552"/>
            <a:ext cx="10515600" cy="1755648"/>
          </a:xfrm>
          <a:prstGeom prst="roundRect">
            <a:avLst>
              <a:gd name="adj" fmla="val 5208"/>
            </a:avLst>
          </a:prstGeom>
          <a:solidFill>
            <a:srgbClr val="4063D8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4416552"/>
            <a:ext cx="9966960" cy="1755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グラフは関数の「顔」。明日は最終日、確率 —— サイコロを10万回「試し」ます!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2026-07-18T01:09:59Z</dcterms:created>
  <dcterms:modified xsi:type="dcterms:W3CDTF">2026-07-18T01:09:59Z</dcterms:modified>
</cp:coreProperties>
</file>