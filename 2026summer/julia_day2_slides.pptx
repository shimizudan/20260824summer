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77724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38982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Day 2</a:t>
            </a:r>
            <a:endParaRPr lang="en-US" sz="6600" dirty="0"/>
          </a:p>
        </p:txBody>
      </p:sp>
      <p:sp>
        <p:nvSpPr>
          <p:cNvPr id="3" name="Text 1"/>
          <p:cNvSpPr/>
          <p:nvPr/>
        </p:nvSpPr>
        <p:spPr>
          <a:xfrm>
            <a:off x="841248" y="196596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高校数学とJulia言語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41248" y="269748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整数問題をプログラムで考えよう!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41248" y="52120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BAB6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城北中学校・高等学校　中学3年・高校1年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BAB6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夏期講習会III　2026/8/24〜8/28　担当:清水団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41248" y="420624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8D5E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テーマ:数学は実験できる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424160" y="868680"/>
            <a:ext cx="292608" cy="292608"/>
          </a:xfrm>
          <a:prstGeom prst="ellipse">
            <a:avLst/>
          </a:prstGeom>
          <a:solidFill>
            <a:srgbClr val="389826"/>
          </a:solidFill>
          <a:ln/>
        </p:spPr>
      </p:sp>
      <p:sp>
        <p:nvSpPr>
          <p:cNvPr id="8" name="Shape 6"/>
          <p:cNvSpPr/>
          <p:nvPr/>
        </p:nvSpPr>
        <p:spPr>
          <a:xfrm>
            <a:off x="10780776" y="868680"/>
            <a:ext cx="292608" cy="292608"/>
          </a:xfrm>
          <a:prstGeom prst="ellipse">
            <a:avLst/>
          </a:prstGeom>
          <a:solidFill>
            <a:srgbClr val="CB3C33"/>
          </a:solidFill>
          <a:ln/>
        </p:spPr>
      </p:sp>
      <p:sp>
        <p:nvSpPr>
          <p:cNvPr id="9" name="Shape 7"/>
          <p:cNvSpPr/>
          <p:nvPr/>
        </p:nvSpPr>
        <p:spPr>
          <a:xfrm>
            <a:off x="11137392" y="868680"/>
            <a:ext cx="292608" cy="292608"/>
          </a:xfrm>
          <a:prstGeom prst="ellipse">
            <a:avLst/>
          </a:prstGeom>
          <a:solidFill>
            <a:srgbClr val="9558B2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5日間の学習予定 — テーマ「実験する高校数学」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11018520" y="457200"/>
            <a:ext cx="164592" cy="164592"/>
          </a:xfrm>
          <a:prstGeom prst="ellipse">
            <a:avLst/>
          </a:prstGeom>
          <a:solidFill>
            <a:srgbClr val="389826"/>
          </a:solidFill>
          <a:ln/>
        </p:spPr>
      </p:sp>
      <p:sp>
        <p:nvSpPr>
          <p:cNvPr id="4" name="Shape 2"/>
          <p:cNvSpPr/>
          <p:nvPr/>
        </p:nvSpPr>
        <p:spPr>
          <a:xfrm>
            <a:off x="11247120" y="457200"/>
            <a:ext cx="164592" cy="164592"/>
          </a:xfrm>
          <a:prstGeom prst="ellipse">
            <a:avLst/>
          </a:prstGeom>
          <a:solidFill>
            <a:srgbClr val="CB3C33"/>
          </a:solidFill>
          <a:ln/>
        </p:spPr>
      </p:sp>
      <p:sp>
        <p:nvSpPr>
          <p:cNvPr id="5" name="Shape 3"/>
          <p:cNvSpPr/>
          <p:nvPr/>
        </p:nvSpPr>
        <p:spPr>
          <a:xfrm>
            <a:off x="11475720" y="457200"/>
            <a:ext cx="164592" cy="164592"/>
          </a:xfrm>
          <a:prstGeom prst="ellipse">
            <a:avLst/>
          </a:prstGeom>
          <a:solidFill>
            <a:srgbClr val="9558B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234440"/>
            <a:ext cx="8778240" cy="841248"/>
          </a:xfrm>
          <a:prstGeom prst="roundRect">
            <a:avLst>
              <a:gd name="adj" fmla="val 9783"/>
            </a:avLst>
          </a:prstGeom>
          <a:solidFill>
            <a:srgbClr val="F4F3F8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1408176"/>
            <a:ext cx="493776" cy="493776"/>
          </a:xfrm>
          <a:prstGeom prst="ellipse">
            <a:avLst/>
          </a:prstGeom>
          <a:solidFill>
            <a:srgbClr val="9558B2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40817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63040" y="1234440"/>
            <a:ext cx="6035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Day 1　計算・基本文法</a:t>
            </a:r>
            <a:pPr indent="0" marL="0">
              <a:buNone/>
            </a:pP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406640" y="1234440"/>
            <a:ext cx="1828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i="1" dirty="0">
                <a:solidFill>
                  <a:srgbClr val="9558B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Juliaと友だちになる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258568"/>
            <a:ext cx="8778240" cy="841248"/>
          </a:xfrm>
          <a:prstGeom prst="roundRect">
            <a:avLst>
              <a:gd name="adj" fmla="val 9783"/>
            </a:avLst>
          </a:prstGeom>
          <a:solidFill>
            <a:srgbClr val="389826"/>
          </a:solidFill>
          <a:ln/>
        </p:spPr>
      </p:sp>
      <p:sp>
        <p:nvSpPr>
          <p:cNvPr id="12" name="Shape 10"/>
          <p:cNvSpPr/>
          <p:nvPr/>
        </p:nvSpPr>
        <p:spPr>
          <a:xfrm>
            <a:off x="777240" y="2432304"/>
            <a:ext cx="493776" cy="49377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43230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8982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63040" y="2258568"/>
            <a:ext cx="6035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Day 2　整数問題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← 今日はここ!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406640" y="2258568"/>
            <a:ext cx="1828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探す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3282696"/>
            <a:ext cx="8778240" cy="841248"/>
          </a:xfrm>
          <a:prstGeom prst="roundRect">
            <a:avLst>
              <a:gd name="adj" fmla="val 9783"/>
            </a:avLst>
          </a:prstGeom>
          <a:solidFill>
            <a:srgbClr val="F4F3F8"/>
          </a:solidFill>
          <a:ln/>
        </p:spPr>
      </p:sp>
      <p:sp>
        <p:nvSpPr>
          <p:cNvPr id="17" name="Shape 15"/>
          <p:cNvSpPr/>
          <p:nvPr/>
        </p:nvSpPr>
        <p:spPr>
          <a:xfrm>
            <a:off x="777240" y="3456432"/>
            <a:ext cx="493776" cy="493776"/>
          </a:xfrm>
          <a:prstGeom prst="ellipse">
            <a:avLst/>
          </a:prstGeom>
          <a:solidFill>
            <a:srgbClr val="CB3C33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45643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63040" y="3282696"/>
            <a:ext cx="6035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Day 3　場合の数・組合せ</a:t>
            </a:r>
            <a:pPr indent="0" marL="0">
              <a:buNone/>
            </a:pP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406640" y="3282696"/>
            <a:ext cx="1828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i="1" dirty="0">
                <a:solidFill>
                  <a:srgbClr val="CB3C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全部作る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4306824"/>
            <a:ext cx="8778240" cy="841248"/>
          </a:xfrm>
          <a:prstGeom prst="roundRect">
            <a:avLst>
              <a:gd name="adj" fmla="val 9783"/>
            </a:avLst>
          </a:prstGeom>
          <a:solidFill>
            <a:srgbClr val="F4F3F8"/>
          </a:solidFill>
          <a:ln/>
        </p:spPr>
      </p:sp>
      <p:sp>
        <p:nvSpPr>
          <p:cNvPr id="22" name="Shape 20"/>
          <p:cNvSpPr/>
          <p:nvPr/>
        </p:nvSpPr>
        <p:spPr>
          <a:xfrm>
            <a:off x="777240" y="4480560"/>
            <a:ext cx="493776" cy="493776"/>
          </a:xfrm>
          <a:prstGeom prst="ellipse">
            <a:avLst/>
          </a:prstGeom>
          <a:solidFill>
            <a:srgbClr val="4063D8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448056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463040" y="4306824"/>
            <a:ext cx="6035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Day 4　関数・グラフ・最大最小</a:t>
            </a:r>
            <a:pPr indent="0" marL="0">
              <a:buNone/>
            </a:pP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406640" y="4306824"/>
            <a:ext cx="1828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i="1" dirty="0">
                <a:solidFill>
                  <a:srgbClr val="4063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描く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48640" y="5330952"/>
            <a:ext cx="8778240" cy="841248"/>
          </a:xfrm>
          <a:prstGeom prst="roundRect">
            <a:avLst>
              <a:gd name="adj" fmla="val 9783"/>
            </a:avLst>
          </a:prstGeom>
          <a:solidFill>
            <a:srgbClr val="F4F3F8"/>
          </a:solidFill>
          <a:ln/>
        </p:spPr>
      </p:sp>
      <p:sp>
        <p:nvSpPr>
          <p:cNvPr id="27" name="Shape 25"/>
          <p:cNvSpPr/>
          <p:nvPr/>
        </p:nvSpPr>
        <p:spPr>
          <a:xfrm>
            <a:off x="777240" y="5504688"/>
            <a:ext cx="493776" cy="493776"/>
          </a:xfrm>
          <a:prstGeom prst="ellipse">
            <a:avLst/>
          </a:prstGeom>
          <a:solidFill>
            <a:srgbClr val="9558B2"/>
          </a:solidFill>
          <a:ln/>
        </p:spPr>
      </p:sp>
      <p:sp>
        <p:nvSpPr>
          <p:cNvPr id="28" name="Text 26"/>
          <p:cNvSpPr/>
          <p:nvPr/>
        </p:nvSpPr>
        <p:spPr>
          <a:xfrm>
            <a:off x="777240" y="550468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463040" y="5330952"/>
            <a:ext cx="6035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Day 5　確率・シミュレーション</a:t>
            </a:r>
            <a:pPr indent="0" marL="0">
              <a:buNone/>
            </a:pP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406640" y="5330952"/>
            <a:ext cx="1828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i="1" dirty="0">
                <a:solidFill>
                  <a:srgbClr val="9558B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試す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9601200" y="1234440"/>
            <a:ext cx="2039112" cy="4937760"/>
          </a:xfrm>
          <a:prstGeom prst="roundRect">
            <a:avLst>
              <a:gd name="adj" fmla="val 4036"/>
            </a:avLst>
          </a:prstGeom>
          <a:solidFill>
            <a:srgbClr val="389826">
              <a:alpha val="8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9784080" y="14630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982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今日のゴール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9784080" y="2011680"/>
            <a:ext cx="16916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for文とif文で整数を「全部探す」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未解決問題を自分の手で実験する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約数を全部求めよう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11018520" y="457200"/>
            <a:ext cx="164592" cy="164592"/>
          </a:xfrm>
          <a:prstGeom prst="ellipse">
            <a:avLst/>
          </a:prstGeom>
          <a:solidFill>
            <a:srgbClr val="389826"/>
          </a:solidFill>
          <a:ln/>
        </p:spPr>
      </p:sp>
      <p:sp>
        <p:nvSpPr>
          <p:cNvPr id="4" name="Shape 2"/>
          <p:cNvSpPr/>
          <p:nvPr/>
        </p:nvSpPr>
        <p:spPr>
          <a:xfrm>
            <a:off x="11247120" y="457200"/>
            <a:ext cx="164592" cy="164592"/>
          </a:xfrm>
          <a:prstGeom prst="ellipse">
            <a:avLst/>
          </a:prstGeom>
          <a:solidFill>
            <a:srgbClr val="CB3C33"/>
          </a:solidFill>
          <a:ln/>
        </p:spPr>
      </p:sp>
      <p:sp>
        <p:nvSpPr>
          <p:cNvPr id="5" name="Shape 3"/>
          <p:cNvSpPr/>
          <p:nvPr/>
        </p:nvSpPr>
        <p:spPr>
          <a:xfrm>
            <a:off x="11475720" y="457200"/>
            <a:ext cx="164592" cy="164592"/>
          </a:xfrm>
          <a:prstGeom prst="ellipse">
            <a:avLst/>
          </a:prstGeom>
          <a:solidFill>
            <a:srgbClr val="9558B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 の約数 = 「n % d == 0 となる d」を探すだけ!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6949440" cy="3886200"/>
          </a:xfrm>
          <a:prstGeom prst="roundRect">
            <a:avLst>
              <a:gd name="adj" fmla="val 2353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25400" dir="5400000">
              <a:srgbClr val="3A3655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1947672"/>
            <a:ext cx="6400800" cy="3557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divisors(n) = [d for d in 1:n if n % d == 0]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divisors(24)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8CE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[1, 2, 3, 4, 6, 8, 12, 24]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length(divisors(24))   # 約数の個数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8CE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sum(divisors(24))      # 約数の和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8CE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863840" y="1783080"/>
            <a:ext cx="3749040" cy="1828800"/>
          </a:xfrm>
          <a:prstGeom prst="roundRect">
            <a:avLst>
              <a:gd name="adj" fmla="val 4500"/>
            </a:avLst>
          </a:prstGeom>
          <a:solidFill>
            <a:srgbClr val="389826">
              <a:alpha val="8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7863840" y="1892808"/>
            <a:ext cx="37490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8982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1行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8001000" y="2843784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8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「約数を全部求める関数」が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8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1行で完成!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863840" y="3840480"/>
            <a:ext cx="3749040" cy="1828800"/>
          </a:xfrm>
          <a:prstGeom prst="roundRect">
            <a:avLst>
              <a:gd name="adj" fmla="val 4500"/>
            </a:avLst>
          </a:prstGeom>
          <a:solidFill>
            <a:srgbClr val="9558B2">
              <a:alpha val="8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7863840" y="3950208"/>
            <a:ext cx="37490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558B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 ]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8001000" y="4901184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8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内包表記:条件に合う数を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8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集めてリストにする書き方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6108192"/>
            <a:ext cx="146304" cy="146304"/>
          </a:xfrm>
          <a:prstGeom prst="ellipse">
            <a:avLst/>
          </a:prstGeom>
          <a:solidFill>
            <a:srgbClr val="389826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" y="598932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 divisors 関数が今日ずっと活躍します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素数判定と Primes.jl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11018520" y="457200"/>
            <a:ext cx="164592" cy="164592"/>
          </a:xfrm>
          <a:prstGeom prst="ellipse">
            <a:avLst/>
          </a:prstGeom>
          <a:solidFill>
            <a:srgbClr val="389826"/>
          </a:solidFill>
          <a:ln/>
        </p:spPr>
      </p:sp>
      <p:sp>
        <p:nvSpPr>
          <p:cNvPr id="4" name="Shape 2"/>
          <p:cNvSpPr/>
          <p:nvPr/>
        </p:nvSpPr>
        <p:spPr>
          <a:xfrm>
            <a:off x="11247120" y="457200"/>
            <a:ext cx="164592" cy="164592"/>
          </a:xfrm>
          <a:prstGeom prst="ellipse">
            <a:avLst/>
          </a:prstGeom>
          <a:solidFill>
            <a:srgbClr val="CB3C33"/>
          </a:solidFill>
          <a:ln/>
        </p:spPr>
      </p:sp>
      <p:sp>
        <p:nvSpPr>
          <p:cNvPr id="5" name="Shape 3"/>
          <p:cNvSpPr/>
          <p:nvPr/>
        </p:nvSpPr>
        <p:spPr>
          <a:xfrm>
            <a:off x="11475720" y="457200"/>
            <a:ext cx="164592" cy="164592"/>
          </a:xfrm>
          <a:prstGeom prst="ellipse">
            <a:avLst/>
          </a:prstGeom>
          <a:solidFill>
            <a:srgbClr val="9558B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素数 = 約数がちょうど2個の数。まず自作、そしてプロの道具へ。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6949440" cy="3886200"/>
          </a:xfrm>
          <a:prstGeom prst="roundRect">
            <a:avLst>
              <a:gd name="adj" fmla="val 2353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25400" dir="5400000">
              <a:srgbClr val="3A3655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1947672"/>
            <a:ext cx="6400800" cy="3557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自作:約数が2個なら素数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isprime_mine(n) = n ≥ 2 &amp;&amp; length(divisors(n)) == 2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プロの道具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using Pkg; Pkg.add("Primes"); using Primes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isprime(9999999967)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8CE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primes(100)    # 100以下の素数を全部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factor(2026)   # 素因数分解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8CE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× 1013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863840" y="1783080"/>
            <a:ext cx="3749040" cy="1828800"/>
          </a:xfrm>
          <a:prstGeom prst="roundRect">
            <a:avLst>
              <a:gd name="adj" fmla="val 4500"/>
            </a:avLst>
          </a:prstGeom>
          <a:solidFill>
            <a:srgbClr val="389826">
              <a:alpha val="8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7863840" y="1892808"/>
            <a:ext cx="37490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8982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25個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8001000" y="2843784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8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100以下の素数の個数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8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length(primes(100))で一発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863840" y="3840480"/>
            <a:ext cx="3749040" cy="1828800"/>
          </a:xfrm>
          <a:prstGeom prst="roundRect">
            <a:avLst>
              <a:gd name="adj" fmla="val 4500"/>
            </a:avLst>
          </a:prstGeom>
          <a:solidFill>
            <a:srgbClr val="4063D8">
              <a:alpha val="8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7863840" y="3950208"/>
            <a:ext cx="37490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063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0.1秒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8001000" y="4901184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8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100億に近い数の素数判定も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8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一瞬で終わる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6108192"/>
            <a:ext cx="146304" cy="146304"/>
          </a:xfrm>
          <a:prstGeom prst="ellipse">
            <a:avLst/>
          </a:prstGeom>
          <a:solidFill>
            <a:srgbClr val="389826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" y="598932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手作りで仕組みを理解 → パッケージで高速に実験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エラトステネスの篩(ふるい)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11018520" y="457200"/>
            <a:ext cx="164592" cy="164592"/>
          </a:xfrm>
          <a:prstGeom prst="ellipse">
            <a:avLst/>
          </a:prstGeom>
          <a:solidFill>
            <a:srgbClr val="389826"/>
          </a:solidFill>
          <a:ln/>
        </p:spPr>
      </p:sp>
      <p:sp>
        <p:nvSpPr>
          <p:cNvPr id="4" name="Shape 2"/>
          <p:cNvSpPr/>
          <p:nvPr/>
        </p:nvSpPr>
        <p:spPr>
          <a:xfrm>
            <a:off x="11247120" y="457200"/>
            <a:ext cx="164592" cy="164592"/>
          </a:xfrm>
          <a:prstGeom prst="ellipse">
            <a:avLst/>
          </a:prstGeom>
          <a:solidFill>
            <a:srgbClr val="CB3C33"/>
          </a:solidFill>
          <a:ln/>
        </p:spPr>
      </p:sp>
      <p:sp>
        <p:nvSpPr>
          <p:cNvPr id="5" name="Shape 3"/>
          <p:cNvSpPr/>
          <p:nvPr/>
        </p:nvSpPr>
        <p:spPr>
          <a:xfrm>
            <a:off x="11475720" y="457200"/>
            <a:ext cx="164592" cy="164592"/>
          </a:xfrm>
          <a:prstGeom prst="ellipse">
            <a:avLst/>
          </a:prstGeom>
          <a:solidFill>
            <a:srgbClr val="9558B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紀元前3世紀のアルゴリズムを、自分の手で実装してみよう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6949440" cy="3886200"/>
          </a:xfrm>
          <a:prstGeom prst="roundRect">
            <a:avLst>
              <a:gd name="adj" fmla="val 2353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25400" dir="5400000">
              <a:srgbClr val="3A3655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1947672"/>
            <a:ext cx="6400800" cy="3557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eratosthenes(n)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is_prime = trues(n); is_prime[1] = false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p in 2:n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is_prime[p]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for q in 2p:p:n   # pの倍数を消す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is_prime[q] = false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end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end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end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[p for p in 1:n if is_prime[p]]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63840" y="1783080"/>
            <a:ext cx="3749040" cy="3886200"/>
          </a:xfrm>
          <a:prstGeom prst="roundRect">
            <a:avLst>
              <a:gd name="adj" fmla="val 2195"/>
            </a:avLst>
          </a:prstGeom>
          <a:solidFill>
            <a:srgbClr val="F4F3F8"/>
          </a:solidFill>
          <a:ln/>
        </p:spPr>
      </p:sp>
      <p:sp>
        <p:nvSpPr>
          <p:cNvPr id="10" name="Text 8"/>
          <p:cNvSpPr/>
          <p:nvPr/>
        </p:nvSpPr>
        <p:spPr>
          <a:xfrm>
            <a:off x="8138160" y="2057400"/>
            <a:ext cx="32004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38982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ふるいの手順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endParaRPr lang="en-US" sz="13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350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2からnまで数を並べる</a:t>
            </a:r>
            <a:endParaRPr lang="en-US" sz="13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350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残った最小の数は素数</a:t>
            </a:r>
            <a:endParaRPr lang="en-US" sz="13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350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その倍数を全部消す</a:t>
            </a:r>
            <a:endParaRPr lang="en-US" sz="13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350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繰り返す!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2300年前の方法が、今もコンピュータの中で現役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6108192"/>
            <a:ext cx="146304" cy="146304"/>
          </a:xfrm>
          <a:prstGeom prst="ellipse">
            <a:avLst/>
          </a:prstGeom>
          <a:solidFill>
            <a:srgbClr val="389826"/>
          </a:solidFill>
          <a:ln/>
        </p:spPr>
      </p:sp>
      <p:sp>
        <p:nvSpPr>
          <p:cNvPr id="12" name="Text 10"/>
          <p:cNvSpPr/>
          <p:nvPr/>
        </p:nvSpPr>
        <p:spPr>
          <a:xfrm>
            <a:off x="841248" y="598932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primes(1000) と結果が一致するか確認してみよう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素数はどのくらいあるのか? 実験!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11018520" y="457200"/>
            <a:ext cx="164592" cy="164592"/>
          </a:xfrm>
          <a:prstGeom prst="ellipse">
            <a:avLst/>
          </a:prstGeom>
          <a:solidFill>
            <a:srgbClr val="389826"/>
          </a:solidFill>
          <a:ln/>
        </p:spPr>
      </p:sp>
      <p:sp>
        <p:nvSpPr>
          <p:cNvPr id="4" name="Shape 2"/>
          <p:cNvSpPr/>
          <p:nvPr/>
        </p:nvSpPr>
        <p:spPr>
          <a:xfrm>
            <a:off x="11247120" y="457200"/>
            <a:ext cx="164592" cy="164592"/>
          </a:xfrm>
          <a:prstGeom prst="ellipse">
            <a:avLst/>
          </a:prstGeom>
          <a:solidFill>
            <a:srgbClr val="CB3C33"/>
          </a:solidFill>
          <a:ln/>
        </p:spPr>
      </p:sp>
      <p:sp>
        <p:nvSpPr>
          <p:cNvPr id="5" name="Shape 3"/>
          <p:cNvSpPr/>
          <p:nvPr/>
        </p:nvSpPr>
        <p:spPr>
          <a:xfrm>
            <a:off x="11475720" y="457200"/>
            <a:ext cx="164592" cy="164592"/>
          </a:xfrm>
          <a:prstGeom prst="ellipse">
            <a:avLst/>
          </a:prstGeom>
          <a:solidFill>
            <a:srgbClr val="9558B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n以下の素数の個数を数えて、割合の変化を観察しよう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2670048" cy="2286000"/>
          </a:xfrm>
          <a:prstGeom prst="roundRect">
            <a:avLst>
              <a:gd name="adj" fmla="val 3600"/>
            </a:avLst>
          </a:prstGeom>
          <a:solidFill>
            <a:srgbClr val="389826">
              <a:alpha val="8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148840"/>
            <a:ext cx="26700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8982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25%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548640" y="3154680"/>
            <a:ext cx="26700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8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100 以下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B68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素数 25個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355848" y="1920240"/>
            <a:ext cx="2670048" cy="2286000"/>
          </a:xfrm>
          <a:prstGeom prst="roundRect">
            <a:avLst>
              <a:gd name="adj" fmla="val 3600"/>
            </a:avLst>
          </a:prstGeom>
          <a:solidFill>
            <a:srgbClr val="389826">
              <a:alpha val="8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3355848" y="2148840"/>
            <a:ext cx="26700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8982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16.8%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3355848" y="3154680"/>
            <a:ext cx="26700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8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1,000 以下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B68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素数 168個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63056" y="1920240"/>
            <a:ext cx="2670048" cy="2286000"/>
          </a:xfrm>
          <a:prstGeom prst="roundRect">
            <a:avLst>
              <a:gd name="adj" fmla="val 3600"/>
            </a:avLst>
          </a:prstGeom>
          <a:solidFill>
            <a:srgbClr val="389826">
              <a:alpha val="8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163056" y="2148840"/>
            <a:ext cx="26700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8982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12.3%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6163056" y="3154680"/>
            <a:ext cx="26700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8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10,000 以下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B68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素数 1,229個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970264" y="1920240"/>
            <a:ext cx="2670048" cy="2286000"/>
          </a:xfrm>
          <a:prstGeom prst="roundRect">
            <a:avLst>
              <a:gd name="adj" fmla="val 3600"/>
            </a:avLst>
          </a:prstGeom>
          <a:solidFill>
            <a:srgbClr val="389826">
              <a:alpha val="8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8970264" y="2148840"/>
            <a:ext cx="26700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8982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9.6%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8970264" y="3154680"/>
            <a:ext cx="26700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8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100,000 以下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B68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素数 9,592個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4572000"/>
            <a:ext cx="11064240" cy="1143000"/>
          </a:xfrm>
          <a:prstGeom prst="roundRect">
            <a:avLst>
              <a:gd name="adj" fmla="val 7200"/>
            </a:avLst>
          </a:prstGeom>
          <a:solidFill>
            <a:srgbClr val="F4F3F8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4572000"/>
            <a:ext cx="10424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だんだん「まばら」になるが、なくならない(素数は無限にある!)。この減り方の法則=素数定理の発見も、ガウスの計算実験から始まりました。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ユークリッドの互除法:世界最古のアルゴリズム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11018520" y="457200"/>
            <a:ext cx="164592" cy="164592"/>
          </a:xfrm>
          <a:prstGeom prst="ellipse">
            <a:avLst/>
          </a:prstGeom>
          <a:solidFill>
            <a:srgbClr val="389826"/>
          </a:solidFill>
          <a:ln/>
        </p:spPr>
      </p:sp>
      <p:sp>
        <p:nvSpPr>
          <p:cNvPr id="4" name="Shape 2"/>
          <p:cNvSpPr/>
          <p:nvPr/>
        </p:nvSpPr>
        <p:spPr>
          <a:xfrm>
            <a:off x="11247120" y="457200"/>
            <a:ext cx="164592" cy="164592"/>
          </a:xfrm>
          <a:prstGeom prst="ellipse">
            <a:avLst/>
          </a:prstGeom>
          <a:solidFill>
            <a:srgbClr val="CB3C33"/>
          </a:solidFill>
          <a:ln/>
        </p:spPr>
      </p:sp>
      <p:sp>
        <p:nvSpPr>
          <p:cNvPr id="5" name="Shape 3"/>
          <p:cNvSpPr/>
          <p:nvPr/>
        </p:nvSpPr>
        <p:spPr>
          <a:xfrm>
            <a:off x="11475720" y="457200"/>
            <a:ext cx="164592" cy="164592"/>
          </a:xfrm>
          <a:prstGeom prst="ellipse">
            <a:avLst/>
          </a:prstGeom>
          <a:solidFill>
            <a:srgbClr val="9558B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原理:a を b で割った余りが r なら gcd(a, b) = gcd(b, r)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6949440" cy="3886200"/>
          </a:xfrm>
          <a:prstGeom prst="roundRect">
            <a:avLst>
              <a:gd name="adj" fmla="val 2353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25400" dir="5400000">
              <a:srgbClr val="3A3655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1947672"/>
            <a:ext cx="6400800" cy="3557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gcd(1071, 1029)   # 標準装備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8CE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lcm(12, 18)       # 最小公倍数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8CE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36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my_gcd(a, b)   # 自分でも書ける!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b != 0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a, b = b, a % b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end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a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863840" y="1783080"/>
            <a:ext cx="3749040" cy="1828800"/>
          </a:xfrm>
          <a:prstGeom prst="roundRect">
            <a:avLst>
              <a:gd name="adj" fmla="val 4500"/>
            </a:avLst>
          </a:prstGeom>
          <a:solidFill>
            <a:srgbClr val="389826">
              <a:alpha val="8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7863840" y="1892808"/>
            <a:ext cx="37490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8982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紀元前300年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001000" y="2843784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8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ユークリッド「原論」掲載。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8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世界最古のアルゴリズムの一つ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863840" y="3840480"/>
            <a:ext cx="3749040" cy="1828800"/>
          </a:xfrm>
          <a:prstGeom prst="roundRect">
            <a:avLst>
              <a:gd name="adj" fmla="val 4500"/>
            </a:avLst>
          </a:prstGeom>
          <a:solidFill>
            <a:srgbClr val="CB3C33">
              <a:alpha val="8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7863840" y="3950208"/>
            <a:ext cx="37490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B3C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gcd×lcm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8001000" y="4901184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8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= 2数の積になることも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8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実験で確認できる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6108192"/>
            <a:ext cx="146304" cy="146304"/>
          </a:xfrm>
          <a:prstGeom prst="ellipse">
            <a:avLst/>
          </a:prstGeom>
          <a:solidFill>
            <a:srgbClr val="389826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" y="598932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while文:条件が成り立つ間ずっと繰り返す(forの仲間)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完全数を探そう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11018520" y="457200"/>
            <a:ext cx="164592" cy="164592"/>
          </a:xfrm>
          <a:prstGeom prst="ellipse">
            <a:avLst/>
          </a:prstGeom>
          <a:solidFill>
            <a:srgbClr val="389826"/>
          </a:solidFill>
          <a:ln/>
        </p:spPr>
      </p:sp>
      <p:sp>
        <p:nvSpPr>
          <p:cNvPr id="4" name="Shape 2"/>
          <p:cNvSpPr/>
          <p:nvPr/>
        </p:nvSpPr>
        <p:spPr>
          <a:xfrm>
            <a:off x="11247120" y="457200"/>
            <a:ext cx="164592" cy="164592"/>
          </a:xfrm>
          <a:prstGeom prst="ellipse">
            <a:avLst/>
          </a:prstGeom>
          <a:solidFill>
            <a:srgbClr val="CB3C33"/>
          </a:solidFill>
          <a:ln/>
        </p:spPr>
      </p:sp>
      <p:sp>
        <p:nvSpPr>
          <p:cNvPr id="5" name="Shape 3"/>
          <p:cNvSpPr/>
          <p:nvPr/>
        </p:nvSpPr>
        <p:spPr>
          <a:xfrm>
            <a:off x="11475720" y="457200"/>
            <a:ext cx="164592" cy="164592"/>
          </a:xfrm>
          <a:prstGeom prst="ellipse">
            <a:avLst/>
          </a:prstGeom>
          <a:solidFill>
            <a:srgbClr val="9558B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完全数 = 自分以外の約数の和が自分自身と等しい数(例:6 = 1 + 2 + 3)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6949440" cy="3886200"/>
          </a:xfrm>
          <a:prstGeom prst="roundRect">
            <a:avLst>
              <a:gd name="adj" fmla="val 2353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25400" dir="5400000">
              <a:srgbClr val="3A3655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1947672"/>
            <a:ext cx="6400800" cy="3557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proper_sum(n) = sum(divisors(n)) - n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n in 2:10000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proper_sum(n) == n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println("$n は完全数!")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end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8CE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6   28   496   8128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863840" y="1783080"/>
            <a:ext cx="3749040" cy="1828800"/>
          </a:xfrm>
          <a:prstGeom prst="roundRect">
            <a:avLst>
              <a:gd name="adj" fmla="val 4500"/>
            </a:avLst>
          </a:prstGeom>
          <a:solidFill>
            <a:srgbClr val="389826">
              <a:alpha val="8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7863840" y="1892808"/>
            <a:ext cx="37490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8982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4個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8001000" y="2843784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8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10000以下の完全数。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8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5個目は33550336!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863840" y="3840480"/>
            <a:ext cx="3749040" cy="1828800"/>
          </a:xfrm>
          <a:prstGeom prst="roundRect">
            <a:avLst>
              <a:gd name="adj" fmla="val 4500"/>
            </a:avLst>
          </a:prstGeom>
          <a:solidFill>
            <a:srgbClr val="9558B2">
              <a:alpha val="8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7863840" y="3950208"/>
            <a:ext cx="37490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558B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未解決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001000" y="4901184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8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「奇数の完全数はあるか?」は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8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現在も誰も知らない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6108192"/>
            <a:ext cx="146304" cy="146304"/>
          </a:xfrm>
          <a:prstGeom prst="ellipse">
            <a:avLst/>
          </a:prstGeom>
          <a:solidFill>
            <a:srgbClr val="389826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" y="598932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古代ギリシャ人が愛した数を、自分のプログラムで再発見!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双子素数を探そう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11018520" y="457200"/>
            <a:ext cx="164592" cy="164592"/>
          </a:xfrm>
          <a:prstGeom prst="ellipse">
            <a:avLst/>
          </a:prstGeom>
          <a:solidFill>
            <a:srgbClr val="389826"/>
          </a:solidFill>
          <a:ln/>
        </p:spPr>
      </p:sp>
      <p:sp>
        <p:nvSpPr>
          <p:cNvPr id="4" name="Shape 2"/>
          <p:cNvSpPr/>
          <p:nvPr/>
        </p:nvSpPr>
        <p:spPr>
          <a:xfrm>
            <a:off x="11247120" y="457200"/>
            <a:ext cx="164592" cy="164592"/>
          </a:xfrm>
          <a:prstGeom prst="ellipse">
            <a:avLst/>
          </a:prstGeom>
          <a:solidFill>
            <a:srgbClr val="CB3C33"/>
          </a:solidFill>
          <a:ln/>
        </p:spPr>
      </p:sp>
      <p:sp>
        <p:nvSpPr>
          <p:cNvPr id="5" name="Shape 3"/>
          <p:cNvSpPr/>
          <p:nvPr/>
        </p:nvSpPr>
        <p:spPr>
          <a:xfrm>
            <a:off x="11475720" y="457200"/>
            <a:ext cx="164592" cy="164592"/>
          </a:xfrm>
          <a:prstGeom prst="ellipse">
            <a:avLst/>
          </a:prstGeom>
          <a:solidFill>
            <a:srgbClr val="9558B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双子素数 = 差が2の素数のペア:(3,5), (5,7), (11,13), …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6949440" cy="3886200"/>
          </a:xfrm>
          <a:prstGeom prst="roundRect">
            <a:avLst>
              <a:gd name="adj" fmla="val 2353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25400" dir="5400000">
              <a:srgbClr val="3A3655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1947672"/>
            <a:ext cx="6400800" cy="3557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n in 2:100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isprime(n) &amp;&amp; isprime(n+2)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println("($n, $(n+2))")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end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8CE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(3, 5)  (5, 7)  (11, 13)  (17, 19)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8CE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(29, 31)  (41, 43)  (59, 61)  (71, 73)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863840" y="1783080"/>
            <a:ext cx="3749040" cy="1828800"/>
          </a:xfrm>
          <a:prstGeom prst="roundRect">
            <a:avLst>
              <a:gd name="adj" fmla="val 4500"/>
            </a:avLst>
          </a:prstGeom>
          <a:solidFill>
            <a:srgbClr val="389826">
              <a:alpha val="8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7863840" y="1892808"/>
            <a:ext cx="37490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8982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&amp;&amp;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8001000" y="2843784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8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「かつ」で2つの条件を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8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組み合わせる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863840" y="3840480"/>
            <a:ext cx="3749040" cy="1828800"/>
          </a:xfrm>
          <a:prstGeom prst="roundRect">
            <a:avLst>
              <a:gd name="adj" fmla="val 4500"/>
            </a:avLst>
          </a:prstGeom>
          <a:solidFill>
            <a:srgbClr val="CB3C33">
              <a:alpha val="8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7863840" y="3950208"/>
            <a:ext cx="37490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B3C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未解決 2つ目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001000" y="4901184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8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「双子素数は無限にあるか?」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8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も誰も証明できていない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6108192"/>
            <a:ext cx="146304" cy="146304"/>
          </a:xfrm>
          <a:prstGeom prst="ellipse">
            <a:avLst/>
          </a:prstGeom>
          <a:solidFill>
            <a:srgbClr val="389826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" y="598932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今日だけで未解決問題に2つ出会いました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フェルマー数:大数学者の予想が崩れた日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11018520" y="457200"/>
            <a:ext cx="164592" cy="164592"/>
          </a:xfrm>
          <a:prstGeom prst="ellipse">
            <a:avLst/>
          </a:prstGeom>
          <a:solidFill>
            <a:srgbClr val="389826"/>
          </a:solidFill>
          <a:ln/>
        </p:spPr>
      </p:sp>
      <p:sp>
        <p:nvSpPr>
          <p:cNvPr id="4" name="Shape 2"/>
          <p:cNvSpPr/>
          <p:nvPr/>
        </p:nvSpPr>
        <p:spPr>
          <a:xfrm>
            <a:off x="11247120" y="457200"/>
            <a:ext cx="164592" cy="164592"/>
          </a:xfrm>
          <a:prstGeom prst="ellipse">
            <a:avLst/>
          </a:prstGeom>
          <a:solidFill>
            <a:srgbClr val="CB3C33"/>
          </a:solidFill>
          <a:ln/>
        </p:spPr>
      </p:sp>
      <p:sp>
        <p:nvSpPr>
          <p:cNvPr id="5" name="Shape 3"/>
          <p:cNvSpPr/>
          <p:nvPr/>
        </p:nvSpPr>
        <p:spPr>
          <a:xfrm>
            <a:off x="11475720" y="457200"/>
            <a:ext cx="164592" cy="164592"/>
          </a:xfrm>
          <a:prstGeom prst="ellipse">
            <a:avLst/>
          </a:prstGeom>
          <a:solidFill>
            <a:srgbClr val="9558B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フェルマーの予想:Fₙ = 2^(2ⁿ) + 1 はすべて素数(F₀〜F₄は確かに素数)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6949440" cy="3886200"/>
          </a:xfrm>
          <a:prstGeom prst="roundRect">
            <a:avLst>
              <a:gd name="adj" fmla="val 2353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25400" dir="5400000">
              <a:srgbClr val="3A3655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1947672"/>
            <a:ext cx="6400800" cy="3557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n in 0:4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 = big(2)^(2^n) + 1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println("F_$n = $F")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8CE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 5  17  257  65537  すべて素数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factor(big(2)^(2^5) + 1)   # F₅は?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8CE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641 × 6700417  ← 素数ではない!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863840" y="1783080"/>
            <a:ext cx="3749040" cy="1828800"/>
          </a:xfrm>
          <a:prstGeom prst="roundRect">
            <a:avLst>
              <a:gd name="adj" fmla="val 4500"/>
            </a:avLst>
          </a:prstGeom>
          <a:solidFill>
            <a:srgbClr val="389826">
              <a:alpha val="8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7863840" y="1892808"/>
            <a:ext cx="37490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8982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1732年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8001000" y="2843784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8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オイラーがF₅の反例を発見。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8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フェルマーの予想は崩れた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863840" y="3840480"/>
            <a:ext cx="3749040" cy="1828800"/>
          </a:xfrm>
          <a:prstGeom prst="roundRect">
            <a:avLst>
              <a:gd name="adj" fmla="val 4500"/>
            </a:avLst>
          </a:prstGeom>
          <a:solidFill>
            <a:srgbClr val="4063D8">
              <a:alpha val="8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7863840" y="3950208"/>
            <a:ext cx="37490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4063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1秒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8001000" y="4901184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8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オイラーの大発見を、私たちは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8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1秒で再現できる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6108192"/>
            <a:ext cx="146304" cy="146304"/>
          </a:xfrm>
          <a:prstGeom prst="ellipse">
            <a:avLst/>
          </a:prstGeom>
          <a:solidFill>
            <a:srgbClr val="389826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" y="598932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big( ) を使うと何百桁の整数も正確に計算できる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コラッツ予想:世界一有名な未解決問題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11018520" y="457200"/>
            <a:ext cx="164592" cy="164592"/>
          </a:xfrm>
          <a:prstGeom prst="ellipse">
            <a:avLst/>
          </a:prstGeom>
          <a:solidFill>
            <a:srgbClr val="389826"/>
          </a:solidFill>
          <a:ln/>
        </p:spPr>
      </p:sp>
      <p:sp>
        <p:nvSpPr>
          <p:cNvPr id="4" name="Shape 2"/>
          <p:cNvSpPr/>
          <p:nvPr/>
        </p:nvSpPr>
        <p:spPr>
          <a:xfrm>
            <a:off x="11247120" y="457200"/>
            <a:ext cx="164592" cy="164592"/>
          </a:xfrm>
          <a:prstGeom prst="ellipse">
            <a:avLst/>
          </a:prstGeom>
          <a:solidFill>
            <a:srgbClr val="CB3C33"/>
          </a:solidFill>
          <a:ln/>
        </p:spPr>
      </p:sp>
      <p:sp>
        <p:nvSpPr>
          <p:cNvPr id="5" name="Shape 3"/>
          <p:cNvSpPr/>
          <p:nvPr/>
        </p:nvSpPr>
        <p:spPr>
          <a:xfrm>
            <a:off x="11475720" y="457200"/>
            <a:ext cx="164592" cy="164592"/>
          </a:xfrm>
          <a:prstGeom prst="ellipse">
            <a:avLst/>
          </a:prstGeom>
          <a:solidFill>
            <a:srgbClr val="9558B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偶数なら2で割る、奇数なら3倍して1足す → どんな数も必ず1になる…?(1937年から未解決)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6949440" cy="3886200"/>
          </a:xfrm>
          <a:prstGeom prst="roundRect">
            <a:avLst>
              <a:gd name="adj" fmla="val 2353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25400" dir="5400000">
              <a:srgbClr val="3A3655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1947672"/>
            <a:ext cx="6400800" cy="3557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collatz_steps(n)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steps = 0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n != 1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 = iseven(n) ? n ÷ 2 : 3n + 1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steps += 1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end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steps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argmax(collatz_steps, 1:10000)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8CE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6171  ← 一番長い旅をする数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863840" y="1783080"/>
            <a:ext cx="3749040" cy="3886200"/>
          </a:xfrm>
          <a:prstGeom prst="roundRect">
            <a:avLst>
              <a:gd name="adj" fmla="val 2195"/>
            </a:avLst>
          </a:prstGeom>
          <a:solidFill>
            <a:srgbClr val="F4F3F8"/>
          </a:solidFill>
          <a:ln/>
        </p:spPr>
      </p:sp>
      <p:sp>
        <p:nvSpPr>
          <p:cNvPr id="10" name="Text 8"/>
          <p:cNvSpPr/>
          <p:nvPr/>
        </p:nvSpPr>
        <p:spPr>
          <a:xfrm>
            <a:off x="8138160" y="2057400"/>
            <a:ext cx="32004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38982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実験でわかること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endParaRPr lang="en-US" sz="13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27から始めると111ステップの大冒険(最高9232まで上昇!)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endParaRPr lang="en-US" sz="13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1〜10000の最長は6171(261ステップ)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endParaRPr lang="en-US" sz="13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2⁶⁸(約30京)まで成立を確認済み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6108192"/>
            <a:ext cx="146304" cy="146304"/>
          </a:xfrm>
          <a:prstGeom prst="ellipse">
            <a:avLst/>
          </a:prstGeom>
          <a:solidFill>
            <a:srgbClr val="389826"/>
          </a:solidFill>
          <a:ln/>
        </p:spPr>
      </p:sp>
      <p:sp>
        <p:nvSpPr>
          <p:cNvPr id="12" name="Text 10"/>
          <p:cNvSpPr/>
          <p:nvPr/>
        </p:nvSpPr>
        <p:spPr>
          <a:xfrm>
            <a:off x="841248" y="598932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あなたも今日、未解決問題の「検証」に参加しました!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今日の演習問題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11018520" y="457200"/>
            <a:ext cx="164592" cy="164592"/>
          </a:xfrm>
          <a:prstGeom prst="ellipse">
            <a:avLst/>
          </a:prstGeom>
          <a:solidFill>
            <a:srgbClr val="389826"/>
          </a:solidFill>
          <a:ln/>
        </p:spPr>
      </p:sp>
      <p:sp>
        <p:nvSpPr>
          <p:cNvPr id="4" name="Shape 2"/>
          <p:cNvSpPr/>
          <p:nvPr/>
        </p:nvSpPr>
        <p:spPr>
          <a:xfrm>
            <a:off x="11247120" y="457200"/>
            <a:ext cx="164592" cy="164592"/>
          </a:xfrm>
          <a:prstGeom prst="ellipse">
            <a:avLst/>
          </a:prstGeom>
          <a:solidFill>
            <a:srgbClr val="CB3C33"/>
          </a:solidFill>
          <a:ln/>
        </p:spPr>
      </p:sp>
      <p:sp>
        <p:nvSpPr>
          <p:cNvPr id="5" name="Shape 3"/>
          <p:cNvSpPr/>
          <p:nvPr/>
        </p:nvSpPr>
        <p:spPr>
          <a:xfrm>
            <a:off x="11475720" y="457200"/>
            <a:ext cx="164592" cy="164592"/>
          </a:xfrm>
          <a:prstGeom prst="ellipse">
            <a:avLst/>
          </a:prstGeom>
          <a:solidFill>
            <a:srgbClr val="9558B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188720"/>
            <a:ext cx="5440680" cy="2148840"/>
          </a:xfrm>
          <a:prstGeom prst="roundRect">
            <a:avLst>
              <a:gd name="adj" fmla="val 3830"/>
            </a:avLst>
          </a:prstGeom>
          <a:solidFill>
            <a:srgbClr val="F4F3F8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1417320"/>
            <a:ext cx="457200" cy="457200"/>
          </a:xfrm>
          <a:prstGeom prst="ellipse">
            <a:avLst/>
          </a:prstGeom>
          <a:solidFill>
            <a:srgbClr val="389826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417320" y="1389888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完全数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2011680"/>
            <a:ext cx="4892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496が完全数であることを、約数をすべて表示して確かめよう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72200" y="1188720"/>
            <a:ext cx="5440680" cy="2148840"/>
          </a:xfrm>
          <a:prstGeom prst="roundRect">
            <a:avLst>
              <a:gd name="adj" fmla="val 3830"/>
            </a:avLst>
          </a:prstGeom>
          <a:solidFill>
            <a:srgbClr val="F4F3F8"/>
          </a:solidFill>
          <a:ln/>
        </p:spPr>
      </p:sp>
      <p:sp>
        <p:nvSpPr>
          <p:cNvPr id="12" name="Shape 10"/>
          <p:cNvSpPr/>
          <p:nvPr/>
        </p:nvSpPr>
        <p:spPr>
          <a:xfrm>
            <a:off x="6400800" y="1417320"/>
            <a:ext cx="457200" cy="457200"/>
          </a:xfrm>
          <a:prstGeom prst="ellipse">
            <a:avLst/>
          </a:prstGeom>
          <a:solidFill>
            <a:srgbClr val="389826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040880" y="1389888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素数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46520" y="2011680"/>
            <a:ext cx="4892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2桁の素数は何個? 200以下の双子素数をすべて表示しよう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520440"/>
            <a:ext cx="5440680" cy="2148840"/>
          </a:xfrm>
          <a:prstGeom prst="roundRect">
            <a:avLst>
              <a:gd name="adj" fmla="val 3830"/>
            </a:avLst>
          </a:prstGeom>
          <a:solidFill>
            <a:srgbClr val="F4F3F8"/>
          </a:solidFill>
          <a:ln/>
        </p:spPr>
      </p:sp>
      <p:sp>
        <p:nvSpPr>
          <p:cNvPr id="17" name="Shape 15"/>
          <p:cNvSpPr/>
          <p:nvPr/>
        </p:nvSpPr>
        <p:spPr>
          <a:xfrm>
            <a:off x="777240" y="3749040"/>
            <a:ext cx="457200" cy="457200"/>
          </a:xfrm>
          <a:prstGeom prst="ellipse">
            <a:avLst/>
          </a:prstGeom>
          <a:solidFill>
            <a:srgbClr val="389826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417320" y="3721608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コラッツ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22960" y="4343400"/>
            <a:ext cx="4892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好きな数(誕生日など)でコラッツの旅を表示。1〜100で最長の数も見つけよう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172200" y="3520440"/>
            <a:ext cx="5440680" cy="2148840"/>
          </a:xfrm>
          <a:prstGeom prst="roundRect">
            <a:avLst>
              <a:gd name="adj" fmla="val 3830"/>
            </a:avLst>
          </a:prstGeom>
          <a:solidFill>
            <a:srgbClr val="F4F3F8"/>
          </a:solidFill>
          <a:ln/>
        </p:spPr>
      </p:sp>
      <p:sp>
        <p:nvSpPr>
          <p:cNvPr id="22" name="Shape 20"/>
          <p:cNvSpPr/>
          <p:nvPr/>
        </p:nvSpPr>
        <p:spPr>
          <a:xfrm>
            <a:off x="6400800" y="3749040"/>
            <a:ext cx="457200" cy="457200"/>
          </a:xfrm>
          <a:prstGeom prst="ellipse">
            <a:avLst/>
          </a:prstGeom>
          <a:solidFill>
            <a:srgbClr val="389826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7040880" y="3721608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チャレンジ:カプレカ数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446520" y="4343400"/>
            <a:ext cx="4892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4桁の数で「大きい順−小さい順」を繰り返すと必ず6174に! digits(n) と sort で実験しよう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8982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Juliaで実験 → 手と頭で解く → チェック → ノートブックを保存して Google Classroom から提出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6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今日のまとめ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1018520" y="658368"/>
            <a:ext cx="164592" cy="164592"/>
          </a:xfrm>
          <a:prstGeom prst="ellipse">
            <a:avLst/>
          </a:prstGeom>
          <a:solidFill>
            <a:srgbClr val="389826"/>
          </a:solidFill>
          <a:ln/>
        </p:spPr>
      </p:sp>
      <p:sp>
        <p:nvSpPr>
          <p:cNvPr id="4" name="Shape 2"/>
          <p:cNvSpPr/>
          <p:nvPr/>
        </p:nvSpPr>
        <p:spPr>
          <a:xfrm>
            <a:off x="11247120" y="658368"/>
            <a:ext cx="164592" cy="164592"/>
          </a:xfrm>
          <a:prstGeom prst="ellipse">
            <a:avLst/>
          </a:prstGeom>
          <a:solidFill>
            <a:srgbClr val="CB3C33"/>
          </a:solidFill>
          <a:ln/>
        </p:spPr>
      </p:sp>
      <p:sp>
        <p:nvSpPr>
          <p:cNvPr id="5" name="Shape 3"/>
          <p:cNvSpPr/>
          <p:nvPr/>
        </p:nvSpPr>
        <p:spPr>
          <a:xfrm>
            <a:off x="11475720" y="658368"/>
            <a:ext cx="164592" cy="164592"/>
          </a:xfrm>
          <a:prstGeom prst="ellipse">
            <a:avLst/>
          </a:prstGeom>
          <a:solidFill>
            <a:srgbClr val="9558B2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1609344"/>
            <a:ext cx="128016" cy="128016"/>
          </a:xfrm>
          <a:prstGeom prst="ellipse">
            <a:avLst/>
          </a:prstGeom>
          <a:solidFill>
            <a:srgbClr val="389826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146304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約数・素数　</a:t>
            </a:r>
            <a:pPr indent="0" marL="0">
              <a:buNone/>
            </a:pPr>
            <a:r>
              <a:rPr lang="en-US" sz="1600" dirty="0">
                <a:solidFill>
                  <a:srgbClr val="C9C5D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for文とif文で「全部探す」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68680" y="2267712"/>
            <a:ext cx="128016" cy="128016"/>
          </a:xfrm>
          <a:prstGeom prst="ellipse">
            <a:avLst/>
          </a:prstGeom>
          <a:solidFill>
            <a:srgbClr val="389826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212140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篩・互除法　</a:t>
            </a:r>
            <a:pPr indent="0" marL="0">
              <a:buNone/>
            </a:pPr>
            <a:r>
              <a:rPr lang="en-US" sz="1600" dirty="0">
                <a:solidFill>
                  <a:srgbClr val="C9C5D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古代のアルゴリズムを自分で実装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68680" y="2926080"/>
            <a:ext cx="128016" cy="128016"/>
          </a:xfrm>
          <a:prstGeom prst="ellipse">
            <a:avLst/>
          </a:prstGeom>
          <a:solidFill>
            <a:srgbClr val="389826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2779776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完全数・双子素数・フェルマー数　</a:t>
            </a:r>
            <a:pPr indent="0" marL="0">
              <a:buNone/>
            </a:pPr>
            <a:r>
              <a:rPr lang="en-US" sz="1600" dirty="0">
                <a:solidFill>
                  <a:srgbClr val="C9C5D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数の神秘をプログラムで発見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68680" y="3584448"/>
            <a:ext cx="128016" cy="128016"/>
          </a:xfrm>
          <a:prstGeom prst="ellipse">
            <a:avLst/>
          </a:prstGeom>
          <a:solidFill>
            <a:srgbClr val="389826"/>
          </a:solidFill>
          <a:ln/>
        </p:spPr>
      </p:sp>
      <p:sp>
        <p:nvSpPr>
          <p:cNvPr id="13" name="Text 11"/>
          <p:cNvSpPr/>
          <p:nvPr/>
        </p:nvSpPr>
        <p:spPr>
          <a:xfrm>
            <a:off x="1188720" y="3438144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コラッツ予想　</a:t>
            </a:r>
            <a:pPr indent="0" marL="0">
              <a:buNone/>
            </a:pPr>
            <a:r>
              <a:rPr lang="en-US" sz="1600" dirty="0">
                <a:solidFill>
                  <a:srgbClr val="C9C5D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未解決問題も数行で実験できる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22960" y="4416552"/>
            <a:ext cx="10515600" cy="1755648"/>
          </a:xfrm>
          <a:prstGeom prst="roundRect">
            <a:avLst>
              <a:gd name="adj" fmla="val 5208"/>
            </a:avLst>
          </a:prstGeom>
          <a:solidFill>
            <a:srgbClr val="389826">
              <a:alpha val="2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4416552"/>
            <a:ext cx="9966960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数学は「証明」だけでなく「実験」からも始まる。明日は場合の数 —— 樹形図を「全部作って」しまいます!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2026-07-18T01:09:59Z</dcterms:created>
  <dcterms:modified xsi:type="dcterms:W3CDTF">2026-07-18T01:09:59Z</dcterms:modified>
</cp:coreProperties>
</file>