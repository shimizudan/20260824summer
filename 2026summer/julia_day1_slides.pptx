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1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841248" y="19659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高校数学とJulia言語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" y="2697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 ColabとJuliaで計算してみよう!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41248" y="5212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AB6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城北中学校・高等学校　中学3年・高校1年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AB6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夏期講習会III　2026/8/24〜8/28　担当:清水団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42062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5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まずはJuliaと友だちになる日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24160" y="868680"/>
            <a:ext cx="292608" cy="292608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8" name="Shape 6"/>
          <p:cNvSpPr/>
          <p:nvPr/>
        </p:nvSpPr>
        <p:spPr>
          <a:xfrm>
            <a:off x="10780776" y="868680"/>
            <a:ext cx="292608" cy="292608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868680"/>
            <a:ext cx="292608" cy="292608"/>
          </a:xfrm>
          <a:prstGeom prst="ellipse">
            <a:avLst/>
          </a:prstGeom>
          <a:solidFill>
            <a:srgbClr val="9558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5日間の学習予定 — テーマ「実験する高校数学」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34440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9558B2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08176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081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234440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1　計算・基本文法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← 今日はここ!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06640" y="123444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Juliaと友だちになる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258568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4F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432304"/>
            <a:ext cx="493776" cy="493776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4323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258568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2　整数問題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06640" y="2258568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探す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4F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456432"/>
            <a:ext cx="493776" cy="493776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4564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3282696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3　場合の数・組合せ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06640" y="3282696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CB3C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全部作る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306824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4F3F8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480560"/>
            <a:ext cx="493776" cy="493776"/>
          </a:xfrm>
          <a:prstGeom prst="ellipse">
            <a:avLst/>
          </a:prstGeom>
          <a:solidFill>
            <a:srgbClr val="4063D8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4805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4306824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4　関数・グラフ・最大最小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06640" y="4306824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4063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描く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330952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4F3F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5504688"/>
            <a:ext cx="493776" cy="493776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5046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63040" y="5330952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5　確率・シミュレーション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06640" y="5330952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試す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601200" y="1234440"/>
            <a:ext cx="2039112" cy="4937760"/>
          </a:xfrm>
          <a:prstGeom prst="roundRect">
            <a:avLst>
              <a:gd name="adj" fmla="val 4036"/>
            </a:avLst>
          </a:prstGeom>
          <a:solidFill>
            <a:srgbClr val="9558B2">
              <a:alpha val="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784080" y="1463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今日のゴール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784080" y="2011680"/>
            <a:ext cx="1691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Juliaで計算できるようになる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for文とif文で「数を探せる」ようになる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Julia言語とは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統計処理・科学技術計算・機械学習に強いプログラミング言語。数学との相性は抜群!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F4F3F8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2084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数式そのまま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2788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2x のように数学と同じ記法で書ける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182880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F4F3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6520" y="2103120"/>
            <a:ext cx="502920" cy="502920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32320" y="2084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高速計算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92240" y="2788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複雑な計算も瞬時に実行できる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F4F3F8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4251960"/>
            <a:ext cx="502920" cy="502920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8760" y="423367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数学関数が標準装備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68680" y="49377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平方根・三角関数・対数もすぐ使える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172200" y="397764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F4F3F8"/>
          </a:solidFill>
          <a:ln/>
        </p:spPr>
      </p:sp>
      <p:sp>
        <p:nvSpPr>
          <p:cNvPr id="23" name="Shape 21"/>
          <p:cNvSpPr/>
          <p:nvPr/>
        </p:nvSpPr>
        <p:spPr>
          <a:xfrm>
            <a:off x="6446520" y="4251960"/>
            <a:ext cx="502920" cy="502920"/>
          </a:xfrm>
          <a:prstGeom prst="ellipse">
            <a:avLst/>
          </a:prstGeom>
          <a:solidFill>
            <a:srgbClr val="4063D8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32320" y="423367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美しいグラフ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492240" y="49377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関数のグラフを簡単に描画できる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公式サイト:https://julialang.org/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 ColabでJuliaを使う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 Colab = ブラウザだけで使えるプログラミング環境（インストール不要!）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9558B2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メニュー →「ランタイム」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58768" y="26060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370832" y="210312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9558B2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99432" y="26974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「ランタイムのタイプを変更」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80960" y="26060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193024" y="210312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9558B2"/>
          </a:solidFill>
          <a:ln/>
        </p:spPr>
      </p:sp>
      <p:sp>
        <p:nvSpPr>
          <p:cNvPr id="16" name="Text 14"/>
          <p:cNvSpPr/>
          <p:nvPr/>
        </p:nvSpPr>
        <p:spPr>
          <a:xfrm>
            <a:off x="8421624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DC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21624" y="26974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「Julia」を選択して保存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4F3F8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セルの実行:</a:t>
            </a:r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コードセルを選んで </a:t>
            </a:r>
            <a:pPr indent="0" marL="0">
              <a:buNone/>
            </a:pPr>
            <a:r>
              <a:rPr lang="en-US" sz="15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Shift + Enter</a:t>
            </a:r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（または ▶ ボタン）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4983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分からなくなったら遠慮なく質問してください!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四則演算:まずは電卓として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6949440" cy="4480560"/>
          </a:xfrm>
          <a:prstGeom prst="roundRect">
            <a:avLst>
              <a:gd name="adj" fmla="val 204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353312"/>
            <a:ext cx="6400800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+ 7    # 足し算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* 7    # 掛け算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7    # 割り算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2.142857...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// 7   # 分数（有理数）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15//7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15 % 7    # 余り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÷ 7    # 商（\div + tab）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63840" y="1188720"/>
            <a:ext cx="3749040" cy="2103120"/>
          </a:xfrm>
          <a:prstGeom prst="roundRect">
            <a:avLst>
              <a:gd name="adj" fmla="val 3913"/>
            </a:avLst>
          </a:prstGeom>
          <a:solidFill>
            <a:srgbClr val="9558B2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1298448"/>
            <a:ext cx="3749040" cy="1093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% と ÷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001000" y="2408530"/>
            <a:ext cx="3474720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余りと商。この2つが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今週ずっと大活躍します!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63840" y="3566160"/>
            <a:ext cx="3749040" cy="2103120"/>
          </a:xfrm>
          <a:prstGeom prst="roundRect">
            <a:avLst>
              <a:gd name="adj" fmla="val 3913"/>
            </a:avLst>
          </a:prstGeom>
          <a:solidFill>
            <a:srgbClr val="389826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3675888"/>
            <a:ext cx="3749040" cy="1093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15//7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001000" y="4785970"/>
            <a:ext cx="3474720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分数のまま計算できるのも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Juliaの得意技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緑の行は実行結果。まずは全部自分で打って実行してみよう!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数学の定数・関数が標準装備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6949440" cy="4480560"/>
          </a:xfrm>
          <a:prstGeom prst="roundRect">
            <a:avLst>
              <a:gd name="adj" fmla="val 204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353312"/>
            <a:ext cx="6400800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sqrt(2), √2   # 平方根（\sqrt + tab）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            # 円周率（\pi + tab）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ℯ             # ネイピア数（\euler + tab）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sin(π/6)      # 三角関数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sind(30)      # 度数法バージョン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log(2, 8)     # 対数 log₂8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2^10          # べき乗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63840" y="1188720"/>
            <a:ext cx="3749040" cy="2103120"/>
          </a:xfrm>
          <a:prstGeom prst="roundRect">
            <a:avLst>
              <a:gd name="adj" fmla="val 3913"/>
            </a:avLst>
          </a:prstGeom>
          <a:solidFill>
            <a:srgbClr val="9558B2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1298448"/>
            <a:ext cx="3749040" cy="1093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√ π ℯ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001000" y="2408530"/>
            <a:ext cx="3474720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数学記号がそのまま入力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できるのがJuliaの魅力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63840" y="3566160"/>
            <a:ext cx="3749040" cy="2103120"/>
          </a:xfrm>
          <a:prstGeom prst="roundRect">
            <a:avLst>
              <a:gd name="adj" fmla="val 3913"/>
            </a:avLst>
          </a:prstGeom>
          <a:solidFill>
            <a:srgbClr val="4063D8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3675888"/>
            <a:ext cx="3749040" cy="1093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063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\ + tab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001000" y="4785970"/>
            <a:ext cx="3474720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バックスラッシュ+Tabで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数学記号に変換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電卓にはできない「記号のままの数学」ができる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計算チェック:手計算 vs Julia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展開の公式:(2√3 + 5)(√3 − 1) = 1 + 3√3 になるはず。Juliaで検算!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3108960"/>
          </a:xfrm>
          <a:prstGeom prst="roundRect">
            <a:avLst>
              <a:gd name="adj" fmla="val 294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1051560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(2sqrt(3) + 5) * (sqrt(3) - 1)   # 左辺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6.196152422706632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+ 3sqrt(3)                     # 右辺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6.196152422706632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(2sqrt(3)+5)*(sqrt(3)-1) ≈ 1 + 3sqrt(3)   # ≈は\approx+tab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5376672"/>
            <a:ext cx="146304" cy="146304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52578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手計算の結果をJuliaでチェック → 検算の強い味方!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5852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変数も使える:x, y = 2+sqrt(3), 2-sqrt(3) として x+y = 4.0、x*y = 1.0 も一瞬で確認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範囲（レンジ）:数列を一気に扱う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6949440" cy="4480560"/>
          </a:xfrm>
          <a:prstGeom prst="roundRect">
            <a:avLst>
              <a:gd name="adj" fmla="val 204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353312"/>
            <a:ext cx="6400800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1:100         # 1から100までの整数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sum(1:100)    # 全部たす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5050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prod(1:10)    # 全部かける = 10!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3628800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collect(1:2:19)  # 1から2ずつ→奇数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3, 5, 7, 9, 11, 13, 15, 17, 19]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63840" y="1188720"/>
            <a:ext cx="3749040" cy="2103120"/>
          </a:xfrm>
          <a:prstGeom prst="roundRect">
            <a:avLst>
              <a:gd name="adj" fmla="val 3913"/>
            </a:avLst>
          </a:prstGeom>
          <a:solidFill>
            <a:srgbClr val="9558B2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1298448"/>
            <a:ext cx="3749040" cy="1093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5050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001000" y="2408530"/>
            <a:ext cx="3474720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1+2+…+100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ガウス少年の計算が1行!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63840" y="3566160"/>
            <a:ext cx="3749040" cy="2103120"/>
          </a:xfrm>
          <a:prstGeom prst="roundRect">
            <a:avLst>
              <a:gd name="adj" fmla="val 3913"/>
            </a:avLst>
          </a:prstGeom>
          <a:solidFill>
            <a:srgbClr val="CB3C33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3675888"/>
            <a:ext cx="3749040" cy="1093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B3C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1:2:19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001000" y="4785970"/>
            <a:ext cx="3474720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「始まり:きざみ:終わり」で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等差数列がつくれる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数列の和も積も1行で計算完了!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for文:繰り返しの魔法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6949440" cy="4480560"/>
          </a:xfrm>
          <a:prstGeom prst="roundRect">
            <a:avLst>
              <a:gd name="adj" fmla="val 204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353312"/>
            <a:ext cx="6400800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1:9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println("7 × $i = $(7i)")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× 1 = 7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× 2 = 14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× 3 = 21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× 9 = 63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63840" y="1188720"/>
            <a:ext cx="3749040" cy="4480560"/>
          </a:xfrm>
          <a:prstGeom prst="roundRect">
            <a:avLst>
              <a:gd name="adj" fmla="val 2195"/>
            </a:avLst>
          </a:prstGeom>
          <a:solidFill>
            <a:srgbClr val="F4F3F8"/>
          </a:solidFill>
          <a:ln/>
        </p:spPr>
      </p:sp>
      <p:sp>
        <p:nvSpPr>
          <p:cNvPr id="9" name="Text 7"/>
          <p:cNvSpPr/>
          <p:nvPr/>
        </p:nvSpPr>
        <p:spPr>
          <a:xfrm>
            <a:off x="8138160" y="146304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for 変数 in 範囲 ... end で繰り返し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$i で文字列の中に値を埋め込める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9回でも100万回でも書く量は同じ!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「繰り返し」はコンピュータの最も得意なこと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if文:条件で分ける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6949440" cy="4480560"/>
          </a:xfrm>
          <a:prstGeom prst="roundRect">
            <a:avLst>
              <a:gd name="adj" fmla="val 204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353312"/>
            <a:ext cx="6400800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10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 % 2 == 0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println("$n は偶数")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println("$n は奇数")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は偶数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63840" y="1188720"/>
            <a:ext cx="3749040" cy="4480560"/>
          </a:xfrm>
          <a:prstGeom prst="roundRect">
            <a:avLst>
              <a:gd name="adj" fmla="val 2195"/>
            </a:avLst>
          </a:prstGeom>
          <a:solidFill>
            <a:srgbClr val="F4F3F8"/>
          </a:solidFill>
          <a:ln/>
        </p:spPr>
      </p:sp>
      <p:sp>
        <p:nvSpPr>
          <p:cNvPr id="9" name="Text 7"/>
          <p:cNvSpPr/>
          <p:nvPr/>
        </p:nvSpPr>
        <p:spPr>
          <a:xfrm>
            <a:off x="8138160" y="146304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使える条件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==（等しい）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&lt;, &gt;（大小比較）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%（余り）で倍数判定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&amp;&amp;（かつ）, ||（または）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elseifで3つ以上にも分けられる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「余りで分類する」は整数問題の基本ワザ（明日大活躍!）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for + if = 「探す」道具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1〜1000の中で7の倍数を全部表示してみよう!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64008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1:1000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% 7 == 0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println(n)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7  14  21  28  ...  994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count(n -&gt; n % 7 == 0, 1:1000)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sum(n for n in 1:1000 if n % 7 == 0)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9558B2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8928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142個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001000" y="28437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countで個数を一発カウント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38404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389826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39502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71071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001000" y="49011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sumで合計も一発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これが「実験する数学」の第一歩!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今日の演習問題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4F3F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17320"/>
            <a:ext cx="457200" cy="457200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13898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展開と計算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(2√3 + 1)(√3 − 4) をそのまま計算 → 手で展開した結果と ≈ でチェックしよう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1887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4F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1417320"/>
            <a:ext cx="457200" cy="457200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040880" y="13898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倍数を探そう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01168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1〜1000の3の倍数の個数と合計を for文・count・sum で求め、等差数列の和の公式と比較しよう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4F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37216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チャレンジ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34340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3の倍数かつ5の倍数の個数と合計は?（&amp;&amp; を使って2つの条件を組み合わせる）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35204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4F3F8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0" y="3749040"/>
            <a:ext cx="457200" cy="457200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040880" y="37216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余裕があれば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434340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1〜1000で「7の倍数だが10の倍数でない数」は何個? 自分で条件を工夫してみよう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Juliaで実験 → 手と頭で解く → チェック → ノートブックを保存して Google Classroom から提出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今日のまとめ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018520" y="658368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658368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658368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609344"/>
            <a:ext cx="128016" cy="128016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4630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 Colab　</a:t>
            </a:r>
            <a:pPr indent="0" marL="0">
              <a:buNone/>
            </a:pPr>
            <a:r>
              <a:rPr lang="en-US" sz="1600" dirty="0">
                <a:solidFill>
                  <a:srgbClr val="C9C5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ブラウザだけでJuliaが動く実験室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267712"/>
            <a:ext cx="128016" cy="128016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1214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四則演算・数学関数　</a:t>
            </a:r>
            <a:pPr indent="0" marL="0">
              <a:buNone/>
            </a:pPr>
            <a:r>
              <a:rPr lang="en-US" sz="1600" dirty="0">
                <a:solidFill>
                  <a:srgbClr val="C9C5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sqrt, π, sin, log … 数学記号がそのまま使える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2926080"/>
            <a:ext cx="128016" cy="128016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77977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変数と範囲　</a:t>
            </a:r>
            <a:pPr indent="0" marL="0">
              <a:buNone/>
            </a:pPr>
            <a:r>
              <a:rPr lang="en-US" sz="1600" dirty="0">
                <a:solidFill>
                  <a:srgbClr val="C9C5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公式チェック、1:100 と sum・count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3584448"/>
            <a:ext cx="128016" cy="128016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43814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for文・if文　</a:t>
            </a:r>
            <a:pPr indent="0" marL="0">
              <a:buNone/>
            </a:pPr>
            <a:r>
              <a:rPr lang="en-US" sz="1600" dirty="0">
                <a:solidFill>
                  <a:srgbClr val="C9C5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繰り返し+条件分岐で「数を探す」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4416552"/>
            <a:ext cx="10515600" cy="1755648"/>
          </a:xfrm>
          <a:prstGeom prst="roundRect">
            <a:avLst>
              <a:gd name="adj" fmla="val 5208"/>
            </a:avLst>
          </a:prstGeom>
          <a:solidFill>
            <a:srgbClr val="9558B2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416552"/>
            <a:ext cx="99669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明日は整数問題。素数、完全数、そして未解決問題「コラッツ予想」に挑戦します!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2026-07-18T01:05:37Z</dcterms:created>
  <dcterms:modified xsi:type="dcterms:W3CDTF">2026-07-18T01:05:37Z</dcterms:modified>
</cp:coreProperties>
</file>