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3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41248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高校数学とJulia言語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2697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場合の数・組合せを実験しよう!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城北中学校・高等学校　中学3年・高校1年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夏期講習会III　2026/8/24〜8/28　担当:清水団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4206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5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合言葉:数える前に、まず全部作る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24160" y="868680"/>
            <a:ext cx="292608" cy="292608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8" name="Shape 6"/>
          <p:cNvSpPr/>
          <p:nvPr/>
        </p:nvSpPr>
        <p:spPr>
          <a:xfrm>
            <a:off x="10780776" y="868680"/>
            <a:ext cx="292608" cy="292608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868680"/>
            <a:ext cx="292608" cy="292608"/>
          </a:xfrm>
          <a:prstGeom prst="ellipse">
            <a:avLst/>
          </a:prstGeom>
          <a:solidFill>
            <a:srgbClr val="9558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5日間の学習予定 — テーマ「実験する高校数学」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08176"/>
            <a:ext cx="493776" cy="49377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08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23444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1　計算・基本文法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6640" y="12344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Juliaと友だちになる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432304"/>
            <a:ext cx="493776" cy="49377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32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25856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2　整数問題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25856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CB3C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45643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56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282696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3　場合の数・組合せ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← 今日はここ!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328269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全部作る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306824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480560"/>
            <a:ext cx="493776" cy="493776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80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30682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4　関数・グラフ・最大最小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430682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描く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330952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504688"/>
            <a:ext cx="493776" cy="49377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504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533095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5　確率・シミュレーション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6640" y="533095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試す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0" y="1234440"/>
            <a:ext cx="2039112" cy="4937760"/>
          </a:xfrm>
          <a:prstGeom prst="roundRect">
            <a:avLst>
              <a:gd name="adj" fmla="val 4036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84080" y="2011680"/>
            <a:ext cx="1691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順列・組合せを「全部作って」から公式を理解する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パスカルの三角形の隠れた模様に出会う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樹形図の代わりに全部生成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例題:1, 2, 3で3桁の数を作る(繰り返しOK)。何通り?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in 1:3, b in 1:3, c in 1:3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println("$a$b$c")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111  112  113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121  122  123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131  132  133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211  ...  333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27通り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× 3 × 3 = 3³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積の法則が「見える」!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書き漏らし0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樹形図と違って、コンピュータは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絶対に数え間違えない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for文を「,」で重ねるだけで樹形図の完成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順列:5人から3人選んで並べる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Combinatorics.jl パッケージの permutations で全部作る!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Pkg; Pkg.add("Combinatorics")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Combinatorics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 = ["A","B","C","D","E"]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permutations(people, 3)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println(join(p))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 ABD ABE ACB ACD ... EDC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length(collect(permutations(people, 3)))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₅P₃ = 60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× 4 × 3 = 60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最初5通り→次4通り→最後3通り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5! = 120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全員並べるなら factorial(5)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これも一致!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全部見た後だと、公式の意味がよくわかる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組合せ:選ぶだけなら?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5人から3人選ぶだけ(順番は関係なし)なら何通り?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combinations(people, 3)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println(join(c))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 ABD ABE ACD ACE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ADE BCD BCE BDE CDE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binomial(5, 3)   # 標準装備の二項係数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₅C₃ = 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並べる60通り ÷ 3! = 10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並べ替えを同一視する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 ÷ 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PとCの関係も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実験で確認できた!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「選ぶ」=「並べてから、並べ替えを同一視」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重複順列と円順列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532120" cy="548640"/>
          </a:xfrm>
          <a:prstGeom prst="roundRect">
            <a:avLst>
              <a:gd name="adj" fmla="val 13333"/>
            </a:avLst>
          </a:prstGeom>
          <a:solidFill>
            <a:srgbClr val="CB3C33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重複順列:○×クイズ5問の答え方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532120" cy="2743200"/>
          </a:xfrm>
          <a:prstGeom prst="roundRect">
            <a:avLst>
              <a:gd name="adj" fmla="val 333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084832"/>
            <a:ext cx="49834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ans in Iterators.product(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fill(["○","×"], 5)...)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println(join(ans))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○○○○○ ○○○○× ... ×××××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2^5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188720"/>
            <a:ext cx="5532120" cy="548640"/>
          </a:xfrm>
          <a:prstGeom prst="roundRect">
            <a:avLst>
              <a:gd name="adj" fmla="val 13333"/>
            </a:avLst>
          </a:prstGeom>
          <a:solidFill>
            <a:srgbClr val="CB3C33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188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円順列:5人が円卓に座る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920240"/>
            <a:ext cx="5532120" cy="2743200"/>
          </a:xfrm>
          <a:prstGeom prst="roundRect">
            <a:avLst>
              <a:gd name="adj" fmla="val 333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084832"/>
            <a:ext cx="49834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Aさんを固定して残りを並べる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permutations(["B","C","D","E"])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println("A-" * join(p, "-"))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A-B-C-D-E  A-B-C-E-D  ...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factorial(4)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   # = (5-1)!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39512"/>
            <a:ext cx="146304" cy="146304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1206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「1人固定する」という考え方も、全部作れば納得!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重複順列は nʳ、円順列は (n−1)! —— どちらも実験結果と公式が一致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同じものを含む順列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例題:A, A, B, B, B を1列に並べる方法は?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["A","A","B","B","B"]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unique(permutations(arr))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println(join(p))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AABBB ABABB ABBAB ABBBA BAABB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BABAB BABBA BBAAB BBABA BBBAA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length(unique(permutations(arr)))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5!/(2!3!)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120 ÷ 12 = 10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公式と実験が一致!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unique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重複を取り除く関数。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「同一視」をコードで表現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「同じものの並べ替えで割る」理由が目で見てわかる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パスカルの三角形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二項係数 nCr を三角形に並べると…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0:6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 = [binomial(n,r) for r in 0:n]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println(join(lpad.(row, 4)))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1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1   1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1   2   1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1   3   3   1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1   4   6   4   1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1   5  10  10   5   1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3886200"/>
          </a:xfrm>
          <a:prstGeom prst="roundRect">
            <a:avLst>
              <a:gd name="adj" fmla="val 2195"/>
            </a:avLst>
          </a:prstGeom>
          <a:solidFill>
            <a:srgbClr val="F4F3F8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20574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実験で発見できること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各行の和は 2ⁿ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隣り合う2数の和が下の数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左右対称(nCr = nCn₋r)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組合せの表であり、展開係数の表でもある(二項定理は高2で!)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二項係数に色を塗ると…?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パスカルの三角形の奇数だけを塗ってみる実験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64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zeros(Int, N, N)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0:N-1, r in 0:n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grid[N-n, r+1+(N-1-n)÷2] =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binomial(big(n), big(r)) % 2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heatmap(grid, color=[:white, :blue],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legend=false)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3886200"/>
          </a:xfrm>
          <a:prstGeom prst="roundRect">
            <a:avLst>
              <a:gd name="adj" fmla="val 2195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21031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7863840" y="3566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シェルピンスキーの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ガスケットが出現!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92440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フラクタル:拡大しても同じ形が現れる図形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mod 3 で塗るとまた別の模様が! ぜひ実験を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数学の美しさは、実験で「見える」ようになる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「カタい数学」に見える組合せの数の中に、無限に続く自己相似模様が隠れている。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この模様には、色を塗る実験をした人だけが出会えます。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77840" y="5120640"/>
            <a:ext cx="219456" cy="21945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5" name="Shape 3"/>
          <p:cNvSpPr/>
          <p:nvPr/>
        </p:nvSpPr>
        <p:spPr>
          <a:xfrm>
            <a:off x="5861304" y="5120640"/>
            <a:ext cx="219456" cy="21945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6" name="Shape 4"/>
          <p:cNvSpPr/>
          <p:nvPr/>
        </p:nvSpPr>
        <p:spPr>
          <a:xfrm>
            <a:off x="6144768" y="5120640"/>
            <a:ext cx="219456" cy="219456"/>
          </a:xfrm>
          <a:prstGeom prst="ellipse">
            <a:avLst/>
          </a:prstGeom>
          <a:solidFill>
            <a:srgbClr val="9558B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今日の演習問題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1389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組合せ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6人(A〜F)から2人選ぶ方法を全部表示 → 個数が ₆C₂ と一致するか確認しよう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40880" y="1389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同じものを含む順列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「JOHOKU」の並べ替えは何通り?(Oが2個!)全部作って数え、公式 6!/2! と比較しよう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721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サイコロ2個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大小2個のサイコロで目の和が7になる場合を全部表示して数えよう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40880" y="3721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チャレンジ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343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パスカルの三角形の各行の奇数の個数を数えて(n=0〜16)、規則を予想しよう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Juliaで実験 → 手と頭で解く → チェック → ノートブックを保存して Google Classroom から提出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今日のまとめ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018520" y="658368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658368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658368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09344"/>
            <a:ext cx="128016" cy="12801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463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全部作る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多重for文で樹形図いらず・数え漏れなし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267712"/>
            <a:ext cx="128016" cy="12801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1214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順列と組合せ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permutations と combinations で公式の意味が「見える」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128016" cy="12801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7797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いろいろな順列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重複・円・同じものを含む —— 全部実験で確認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584448"/>
            <a:ext cx="128016" cy="12801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4381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パスカルの三角形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色を塗ったらフラクタルが出現!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416552"/>
            <a:ext cx="10515600" cy="1755648"/>
          </a:xfrm>
          <a:prstGeom prst="roundRect">
            <a:avLst>
              <a:gd name="adj" fmla="val 5208"/>
            </a:avLst>
          </a:prstGeom>
          <a:solidFill>
            <a:srgbClr val="CB3C33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16552"/>
            <a:ext cx="99669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公式は暗記ではなく、全部作れば意味が見えてくる。明日は関数 —— 数式を「描いて」最大・最小を探します!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2026-07-18T01:09:59Z</dcterms:created>
  <dcterms:modified xsi:type="dcterms:W3CDTF">2026-07-18T01:09:59Z</dcterms:modified>
</cp:coreProperties>
</file>