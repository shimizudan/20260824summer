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5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41248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高校数学とJulia言語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2697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確率とシミュレーション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城北中学校・高等学校　中学3年・高校1年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夏期講習会III　2026/8/24〜8/28　担当:清水団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4206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最終日:「理論」と「実験」が一致する瞬間を見る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24160" y="868680"/>
            <a:ext cx="292608" cy="292608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8" name="Shape 6"/>
          <p:cNvSpPr/>
          <p:nvPr/>
        </p:nvSpPr>
        <p:spPr>
          <a:xfrm>
            <a:off x="10780776" y="868680"/>
            <a:ext cx="292608" cy="292608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868680"/>
            <a:ext cx="292608" cy="292608"/>
          </a:xfrm>
          <a:prstGeom prst="ellipse">
            <a:avLst/>
          </a:prstGeom>
          <a:solidFill>
            <a:srgbClr val="9558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5日間の学習予定 — テーマ「実験する高校数学」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08176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08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　計算・基本文法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234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Juliaと友だちになる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432304"/>
            <a:ext cx="493776" cy="49377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32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25856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　整数問題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2585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56432"/>
            <a:ext cx="493776" cy="49377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56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28269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3　場合の数・組合せ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28269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全部作る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480560"/>
            <a:ext cx="493776" cy="49377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0682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4　関数・グラフ・最大最小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30682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30952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9558B2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50468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504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33095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5　確率・シミュレーション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← 今日はここ!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533095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0" y="1234440"/>
            <a:ext cx="2039112" cy="4937760"/>
          </a:xfrm>
          <a:prstGeom prst="roundRect">
            <a:avLst>
              <a:gd name="adj" fmla="val 4036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2011680"/>
            <a:ext cx="1691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シミュレーションで確率を「試す」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理論値と実験値の一致を自分の目で見る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コイン投げのシミュレーション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rand() = 0以上1未満の乱数。0.5未満なら「表」とすればコインの完成!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coin_flip() = rand() &lt; 0.5 ? "表" : "裏"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1000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omote = count(_ -&gt; rand() &lt; 0.5, 1:n)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println("表の割合: $(omote/n)")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表の割合: 0.513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10回→100回→1万回→100万回では?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rand()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乱数はシミュレーションの心臓部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実行のたびに変わる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? :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 ? 真のとき : 偽のとき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1行で書けるif文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コンピュータの中に「コイン」を作った!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大数の法則が「見える」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表の割合の変化をグラフにすると…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10000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[rand() &lt; 0.5 ? 1 : 0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for _ in 1:n]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ratios = cumsum(results) ./ (1:n)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plot(ratios, label="表の割合")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hline!([0.5], color=:red,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label="理論値 0.5")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3886200"/>
          </a:xfrm>
          <a:prstGeom prst="roundRect">
            <a:avLst>
              <a:gd name="adj" fmla="val 2195"/>
            </a:avLst>
          </a:prstGeom>
          <a:solidFill>
            <a:srgbClr val="F4F3F8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20574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グラフから読める事実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最初は大きくブレる(10回で表7回もよくある)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回数を増やすと0.5に収束していく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保険・世論調査・品質管理はこの法則の上に成立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教科書の「大数の法則」が、グラフで見えた!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2つのサイコロの和:昨日とつながる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目の和は2〜12。どの和が出やすい? 予想してから実験!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sums = [rand(1:6) + rand(1:6)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_ in 1:100000]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[count(==(s), sums)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 s in 2:12]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bar(2:12, counts ./ 100000)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和7の割合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0.16693  ≈ 6/36 = 1/6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7が最大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1+6, 2+5, 3+4, 4+3, 5+2, 6+1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の6通りで確率 1/6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Day3×Day5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昨日「全部作って」数えた結果と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今日の実験がぴったり一致!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場合の数(理論)とシミュレーション(実験)がつながった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誕生日問題:直感 vs 確率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問題:40人のクラスに「同じ誕生日のペア」がいる確率は?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hits = count(1:10000) do _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bd = rand(1:365, 40)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length(unique(bd)) &lt; 40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hits / 10000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0.8912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理論値 1 - 365/365 × 364/365 × ...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0.8912...  一致!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89%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40人なら約9割の確率で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同じ誕生日のペアがいる!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23人で50%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直感よりずっと高い。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だから「計算」する価値がある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直感は当てにならない —— 実験と理論は裏切らない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モンティ・ホール問題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3つの扉、1つに賞品。選んだ後、司会者がハズレの扉を開ける。変える? 変えない?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100000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変えない戦略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count(_ -&gt; monty_hall(false), 1:n)/n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0.33298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変える戦略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count(_ -&gt; monty_hall(true), 1:n)/n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0.66753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1/3 → 2/3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扉を変えると勝率2倍!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10万回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天才数学者も間違えた問題が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実験で決着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理屈で納得できなくても実験結果は否定できない。「まず実験、それから理論」もアリ!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モンテカルロ法:乱数で円周率を求める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正方形にランダムに点を打つ → 円内の割合 ≈ π/4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monte_carlo_pi(n)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inside = count(1:n) do _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rand()^2 + rand()^2 ≤ 1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4 * inside / 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monte_carlo_pi(100000000)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3.14158...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π ≈ 3.1416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点を増やすほど本当のπに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近づいていく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現役の技術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「面積を乱数で求める」発想は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天気予報・金融・AIで活躍中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散布図を描くと、赤い1/4円が浮かび上がる(ぜひ実験を!)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5日間のまとめ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89888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計算・基本文法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1234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Juliaと友だちになる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322576"/>
            <a:ext cx="457200" cy="457200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16712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216712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255264"/>
            <a:ext cx="457200" cy="457200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09981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場合の数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0" y="309981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全部作る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187952"/>
            <a:ext cx="457200" cy="457200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03250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4032504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描く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96519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49651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496519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コインは0.5に収束し、誕生日問題は理論とぴったり重なり、モンティ・ホールは 2/3 になった。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Juliaは計算するための言語ではなく、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「数学を実験するための言語」である。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77840" y="3977640"/>
            <a:ext cx="219456" cy="21945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5" name="Shape 3"/>
          <p:cNvSpPr/>
          <p:nvPr/>
        </p:nvSpPr>
        <p:spPr>
          <a:xfrm>
            <a:off x="5861304" y="3977640"/>
            <a:ext cx="219456" cy="21945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6" name="Shape 4"/>
          <p:cNvSpPr/>
          <p:nvPr/>
        </p:nvSpPr>
        <p:spPr>
          <a:xfrm>
            <a:off x="6144768" y="3977640"/>
            <a:ext cx="219456" cy="21945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数学の理論は、実験で確かめられる。実験は、新しい理論の入り口になる。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気になる問題があったら、これからも「まず実験」してみてください。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5日間お疲れさまでした!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今日の演習問題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コイン3枚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3枚とも表になる確率を1万回の実験で求め、理論値 1/8 と比較しよう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サイコロの最大値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2個投げたときの「大きい方の目」の平均値を実験で。max(rand(1:6), rand(1:6)) が使える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モンティ・ホール変形版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扉が4つ(当たり1つ、司会者がハズレを1つ開ける)なら、変える戦略の勝率は?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自由課題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自分で確率の問題を作ってシミュレーション! じゃんけん、くじ引き、ランダムウォーク…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Juliaで実験 → 手と頭で解く → チェック → ノートブックを保存して Google Classroom から提出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2026-07-18T01:09:59Z</dcterms:created>
  <dcterms:modified xsi:type="dcterms:W3CDTF">2026-07-18T01:09:59Z</dcterms:modified>
</cp:coreProperties>
</file>